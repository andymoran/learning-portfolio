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06801421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8118323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1873793886"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82685184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0853661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362272009"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3350962" name="Slide Image Placeholder 1"/>
          <p:cNvSpPr>
            <a:spLocks noChangeAspect="1" noGrp="1" noRot="1"/>
          </p:cNvSpPr>
          <p:nvPr>
            <p:ph type="sldImg"/>
          </p:nvPr>
        </p:nvSpPr>
        <p:spPr bwMode="auto">
          <a:xfrm>
            <a:off x="685800" y="1143000"/>
            <a:ext cx="5486400" cy="3086100"/>
          </a:xfrm>
        </p:spPr>
      </p:sp>
      <p:sp>
        <p:nvSpPr>
          <p:cNvPr id="832457917"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Thank you for taking the time to review this project. This analysis explores how Bellabeat users differ in their hourly activity patterns, and how Bayesian modeling can validate and quantify those differences. The goal is to support more personalized and effective product experiences</a:t>
            </a:r>
            <a:endParaRPr lang="en-US">
              <a:latin typeface="Arial"/>
              <a:cs typeface="Arial"/>
            </a:endParaRPr>
          </a:p>
        </p:txBody>
      </p:sp>
      <p:sp>
        <p:nvSpPr>
          <p:cNvPr id="1456201874"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1120491" name="Slide Image Placeholder 1"/>
          <p:cNvSpPr>
            <a:spLocks noChangeAspect="1" noGrp="1" noRot="1"/>
          </p:cNvSpPr>
          <p:nvPr>
            <p:ph type="sldImg"/>
          </p:nvPr>
        </p:nvSpPr>
        <p:spPr bwMode="auto"/>
      </p:sp>
      <p:sp>
        <p:nvSpPr>
          <p:cNvPr id="1083839872"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personas were created earlier in the project, but we hadn’t yet validated whether they behave differently across the day. If they do, Bellabeat can time nudges and content more intelligently. This analysis answers that question.</a:t>
            </a:r>
            <a:endParaRPr/>
          </a:p>
        </p:txBody>
      </p:sp>
      <p:sp>
        <p:nvSpPr>
          <p:cNvPr id="827102353" name="Slide Number Placeholder 3"/>
          <p:cNvSpPr>
            <a:spLocks noGrp="1"/>
          </p:cNvSpPr>
          <p:nvPr>
            <p:ph type="sldNum" sz="quarter" idx="10"/>
          </p:nvPr>
        </p:nvSpPr>
        <p:spPr bwMode="auto"/>
        <p:txBody>
          <a:bodyPr/>
          <a:lstStyle/>
          <a:p>
            <a:pPr>
              <a:defRPr/>
            </a:pPr>
            <a:fld id="{ED9EC489-9580-12E0-1A25-3EB93BB1C3DD}"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9668176" name="Slide Image Placeholder 1"/>
          <p:cNvSpPr>
            <a:spLocks noChangeAspect="1" noGrp="1" noRot="1"/>
          </p:cNvSpPr>
          <p:nvPr>
            <p:ph type="sldImg"/>
          </p:nvPr>
        </p:nvSpPr>
        <p:spPr bwMode="auto"/>
      </p:sp>
      <p:sp>
        <p:nvSpPr>
          <p:cNvPr id="969660356"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dataset includes hourly step counts for each user, merged with persona labels. After cleaning and merging, we have a rich time‑series dataset that allows us to model daily rhythms</a:t>
            </a:r>
            <a:endParaRPr/>
          </a:p>
        </p:txBody>
      </p:sp>
      <p:sp>
        <p:nvSpPr>
          <p:cNvPr id="546795404" name="Slide Number Placeholder 3"/>
          <p:cNvSpPr>
            <a:spLocks noGrp="1"/>
          </p:cNvSpPr>
          <p:nvPr>
            <p:ph type="sldNum" sz="quarter" idx="10"/>
          </p:nvPr>
        </p:nvSpPr>
        <p:spPr bwMode="auto"/>
        <p:txBody>
          <a:bodyPr/>
          <a:lstStyle/>
          <a:p>
            <a:pPr>
              <a:defRPr/>
            </a:pPr>
            <a:fld id="{EA08DFEB-642B-4F18-C850-638FDB9E255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6827994" name="Slide Image Placeholder 1"/>
          <p:cNvSpPr>
            <a:spLocks noChangeAspect="1" noGrp="1" noRot="1"/>
          </p:cNvSpPr>
          <p:nvPr>
            <p:ph type="sldImg"/>
          </p:nvPr>
        </p:nvSpPr>
        <p:spPr bwMode="auto"/>
      </p:sp>
      <p:sp>
        <p:nvSpPr>
          <p:cNvPr id="1674243210"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Even before modeling, we see distinct shapes. But raw means don’t tell us how confident we can be in these patterns. That’s where Bayesian modeling comes in.</a:t>
            </a:r>
            <a:endParaRPr/>
          </a:p>
        </p:txBody>
      </p:sp>
      <p:sp>
        <p:nvSpPr>
          <p:cNvPr id="1947075198" name="Slide Number Placeholder 3"/>
          <p:cNvSpPr>
            <a:spLocks noGrp="1"/>
          </p:cNvSpPr>
          <p:nvPr>
            <p:ph type="sldNum" sz="quarter" idx="10"/>
          </p:nvPr>
        </p:nvSpPr>
        <p:spPr bwMode="auto"/>
        <p:txBody>
          <a:bodyPr/>
          <a:lstStyle/>
          <a:p>
            <a:pPr>
              <a:defRPr/>
            </a:pPr>
            <a:fld id="{4483512C-5446-A799-5D6C-0DBA32FEF627}"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3087789" name="Slide Image Placeholder 1"/>
          <p:cNvSpPr>
            <a:spLocks noChangeAspect="1" noGrp="1" noRot="1"/>
          </p:cNvSpPr>
          <p:nvPr>
            <p:ph type="sldImg"/>
          </p:nvPr>
        </p:nvSpPr>
        <p:spPr bwMode="auto"/>
      </p:sp>
      <p:sp>
        <p:nvSpPr>
          <p:cNvPr id="362847015"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Bayesian modeling gives us a principled way to quantify uncertainty and validate the patterns we saw in the exploratory analysis. It also produces smooth, interpretable curves for each persona.</a:t>
            </a:r>
            <a:endParaRPr/>
          </a:p>
        </p:txBody>
      </p:sp>
      <p:sp>
        <p:nvSpPr>
          <p:cNvPr id="966507792" name="Slide Number Placeholder 3"/>
          <p:cNvSpPr>
            <a:spLocks noGrp="1"/>
          </p:cNvSpPr>
          <p:nvPr>
            <p:ph type="sldNum" sz="quarter" idx="10"/>
          </p:nvPr>
        </p:nvSpPr>
        <p:spPr bwMode="auto"/>
        <p:txBody>
          <a:bodyPr/>
          <a:lstStyle/>
          <a:p>
            <a:pPr>
              <a:defRPr/>
            </a:pPr>
            <a:fld id="{B7092134-1E3B-717B-419B-83E8ABB73C64}"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7600315" name="Slide Image Placeholder 1"/>
          <p:cNvSpPr>
            <a:spLocks noChangeAspect="1" noGrp="1" noRot="1"/>
          </p:cNvSpPr>
          <p:nvPr>
            <p:ph type="sldImg"/>
          </p:nvPr>
        </p:nvSpPr>
        <p:spPr bwMode="auto"/>
      </p:sp>
      <p:sp>
        <p:nvSpPr>
          <p:cNvPr id="1283125557"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This model gives each persona its own 24‑hour curve. ADVI was used because NUTS was computationally expensive for this dataset, but the posterior predictive checks confirm that ADVI performs well here</a:t>
            </a:r>
            <a:endParaRPr/>
          </a:p>
        </p:txBody>
      </p:sp>
      <p:sp>
        <p:nvSpPr>
          <p:cNvPr id="1099997253" name="Slide Number Placeholder 3"/>
          <p:cNvSpPr>
            <a:spLocks noGrp="1"/>
          </p:cNvSpPr>
          <p:nvPr>
            <p:ph type="sldNum" sz="quarter" idx="10"/>
          </p:nvPr>
        </p:nvSpPr>
        <p:spPr bwMode="auto"/>
        <p:txBody>
          <a:bodyPr/>
          <a:lstStyle/>
          <a:p>
            <a:pPr>
              <a:defRPr/>
            </a:pPr>
            <a:fld id="{7EAA16E9-68F3-DF69-45CF-997453FE7AA1}"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These curves show the posterior mean and 94% credible intervals for each persona. The intervals are narrow, which means the patterns are stable and well‑supported by the data. The differences we saw in the exploratory analysis hold up under the model.</a:t>
            </a:r>
            <a:endParaRPr/>
          </a:p>
        </p:txBody>
      </p:sp>
      <p:sp>
        <p:nvSpPr>
          <p:cNvPr id="4" name="Slide Number Placeholder 3"/>
          <p:cNvSpPr>
            <a:spLocks noGrp="1"/>
          </p:cNvSpPr>
          <p:nvPr>
            <p:ph type="sldNum" sz="quarter" idx="10"/>
          </p:nvPr>
        </p:nvSpPr>
        <p:spPr bwMode="auto"/>
        <p:txBody>
          <a:bodyPr/>
          <a:lstStyle/>
          <a:p>
            <a:pPr>
              <a:defRPr/>
            </a:pPr>
            <a:fld id="{BA1E0F2F-CB25-03FC-9A91-76CB5413CE6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posterior predictive distribution overlaps well with the observed data. The model is slightly smoother than the real distribution, which is expected with a Normal likelihood, but it captures the overall scale and structure. This gives us confidence that the model is a reasonable generative explanation of the data.</a:t>
            </a:r>
            <a:endParaRPr/>
          </a:p>
        </p:txBody>
      </p:sp>
      <p:sp>
        <p:nvSpPr>
          <p:cNvPr id="4" name="Slide Number Placeholder 3"/>
          <p:cNvSpPr>
            <a:spLocks noGrp="1"/>
          </p:cNvSpPr>
          <p:nvPr>
            <p:ph type="sldNum" sz="quarter" idx="10"/>
          </p:nvPr>
        </p:nvSpPr>
        <p:spPr bwMode="auto"/>
        <p:txBody>
          <a:bodyPr/>
          <a:lstStyle/>
          <a:p>
            <a:pPr>
              <a:defRPr/>
            </a:pPr>
            <a:fld id="{B50C9CAB-5977-9985-4B28-59B7531D486C}"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Contrasts make the differences tangible. At 8 AM, Persona 0 is credibly more active than Persona 3. The entire credible interval is above zero, meaning Persona 3 is almost never more active at this hour. This is exactly the kind of insight that supports personalized notification timing.</a:t>
            </a:r>
            <a:endParaRPr/>
          </a:p>
        </p:txBody>
      </p:sp>
      <p:sp>
        <p:nvSpPr>
          <p:cNvPr id="4" name="Slide Number Placeholder 3"/>
          <p:cNvSpPr>
            <a:spLocks noGrp="1"/>
          </p:cNvSpPr>
          <p:nvPr>
            <p:ph type="sldNum" sz="quarter" idx="10"/>
          </p:nvPr>
        </p:nvSpPr>
        <p:spPr bwMode="auto"/>
        <p:txBody>
          <a:bodyPr/>
          <a:lstStyle/>
          <a:p>
            <a:pPr>
              <a:defRPr/>
            </a:pPr>
            <a:fld id="{5E810B41-0B0C-0A78-034D-3570FCF8D8D3}"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This heatmap summarizes persona differences across all hours. Warm colors mean the row persona is more active; cool colors mean the opposite. You can see clear temporal signatures: Persona 0 dominates mornings, Persona 2 dominates evenings, Persona 1 is steady, and Persona 3 is consistently lower.</a:t>
            </a:r>
            <a:endParaRPr/>
          </a:p>
        </p:txBody>
      </p:sp>
      <p:sp>
        <p:nvSpPr>
          <p:cNvPr id="4" name="Slide Number Placeholder 3"/>
          <p:cNvSpPr>
            <a:spLocks noGrp="1"/>
          </p:cNvSpPr>
          <p:nvPr>
            <p:ph type="sldNum" sz="quarter" idx="10"/>
          </p:nvPr>
        </p:nvSpPr>
        <p:spPr bwMode="auto"/>
        <p:txBody>
          <a:bodyPr/>
          <a:lstStyle/>
          <a:p>
            <a:pPr>
              <a:defRPr/>
            </a:pPr>
            <a:fld id="{5EC3EA1F-CEA9-D5C9-7319-5BB960166AE3}"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These patterns translate directly into product strategy. Each persona has a natural rhythm, and Bellabeat can align its engagement strategy with those rhythms to increase relevance and retention.</a:t>
            </a:r>
            <a:endParaRPr/>
          </a:p>
        </p:txBody>
      </p:sp>
      <p:sp>
        <p:nvSpPr>
          <p:cNvPr id="4" name="Slide Number Placeholder 3"/>
          <p:cNvSpPr>
            <a:spLocks noGrp="1"/>
          </p:cNvSpPr>
          <p:nvPr>
            <p:ph type="sldNum" sz="quarter" idx="10"/>
          </p:nvPr>
        </p:nvSpPr>
        <p:spPr bwMode="auto"/>
        <p:txBody>
          <a:bodyPr/>
          <a:lstStyle/>
          <a:p>
            <a:pPr>
              <a:defRPr/>
            </a:pPr>
            <a:fld id="{A396EE2A-55BE-3C54-400E-5F3CF429D38F}"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These limitations don’t undermine the analysis, but they’re important to acknowledge. Future work could incorporate heart‑rate data, intensity minutes, or longer time spans</a:t>
            </a:r>
            <a:endParaRPr/>
          </a:p>
        </p:txBody>
      </p:sp>
      <p:sp>
        <p:nvSpPr>
          <p:cNvPr id="4" name="Slide Number Placeholder 3"/>
          <p:cNvSpPr>
            <a:spLocks noGrp="1"/>
          </p:cNvSpPr>
          <p:nvPr>
            <p:ph type="sldNum" sz="quarter" idx="10"/>
          </p:nvPr>
        </p:nvSpPr>
        <p:spPr bwMode="auto"/>
        <p:txBody>
          <a:bodyPr/>
          <a:lstStyle/>
          <a:p>
            <a:pPr>
              <a:defRPr/>
            </a:pPr>
            <a:fld id="{43BCA685-BBDB-A0A1-D3F0-99D8373D18AE}"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key takeaway is that personas differ not only in how much they move, but when. These differences are real, stable, and actionable. Bayesian modeling strengthens the case for persona‑specific engagement.</a:t>
            </a:r>
            <a:endParaRPr/>
          </a:p>
        </p:txBody>
      </p:sp>
      <p:sp>
        <p:nvSpPr>
          <p:cNvPr id="4" name="Slide Number Placeholder 3"/>
          <p:cNvSpPr>
            <a:spLocks noGrp="1"/>
          </p:cNvSpPr>
          <p:nvPr>
            <p:ph type="sldNum" sz="quarter" idx="10"/>
          </p:nvPr>
        </p:nvSpPr>
        <p:spPr bwMode="auto"/>
        <p:txBody>
          <a:bodyPr/>
          <a:lstStyle/>
          <a:p>
            <a:pPr>
              <a:defRPr/>
            </a:pPr>
            <a:fld id="{BF63C4ED-CBFE-8805-D2A5-856FB5427247}"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hank you for your time. I’m happy to walk through any part of the analysis or discuss how this approach could be extended.</a:t>
            </a:r>
            <a:endParaRPr/>
          </a:p>
        </p:txBody>
      </p:sp>
      <p:sp>
        <p:nvSpPr>
          <p:cNvPr id="4" name="Slide Number Placeholder 3"/>
          <p:cNvSpPr>
            <a:spLocks noGrp="1"/>
          </p:cNvSpPr>
          <p:nvPr>
            <p:ph type="sldNum" sz="quarter" idx="10"/>
          </p:nvPr>
        </p:nvSpPr>
        <p:spPr bwMode="auto"/>
        <p:txBody>
          <a:bodyPr/>
          <a:lstStyle/>
          <a:p>
            <a:pPr>
              <a:defRPr/>
            </a:pPr>
            <a:fld id="{7D644368-A2E0-CD45-7644-34C0AC818DDF}"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627785415"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490317712"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126097959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14709619" name="Footer Placeholder 4"/>
          <p:cNvSpPr>
            <a:spLocks noGrp="1"/>
          </p:cNvSpPr>
          <p:nvPr>
            <p:ph type="ftr" sz="quarter" idx="11"/>
          </p:nvPr>
        </p:nvSpPr>
        <p:spPr bwMode="auto"/>
        <p:txBody>
          <a:bodyPr/>
          <a:lstStyle/>
          <a:p>
            <a:pPr>
              <a:defRPr/>
            </a:pPr>
            <a:endParaRPr lang="en-US"/>
          </a:p>
        </p:txBody>
      </p:sp>
      <p:sp>
        <p:nvSpPr>
          <p:cNvPr id="81192237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00838464" name="Title 1"/>
          <p:cNvSpPr>
            <a:spLocks noGrp="1"/>
          </p:cNvSpPr>
          <p:nvPr>
            <p:ph type="title"/>
          </p:nvPr>
        </p:nvSpPr>
        <p:spPr bwMode="auto"/>
        <p:txBody>
          <a:bodyPr/>
          <a:lstStyle/>
          <a:p>
            <a:pPr>
              <a:defRPr/>
            </a:pPr>
            <a:r>
              <a:rPr lang="en-US"/>
              <a:t>Click to edit Master title style</a:t>
            </a:r>
            <a:endParaRPr lang="en-US"/>
          </a:p>
        </p:txBody>
      </p:sp>
      <p:sp>
        <p:nvSpPr>
          <p:cNvPr id="142155605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64549778"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131226664" name="Footer Placeholder 4"/>
          <p:cNvSpPr>
            <a:spLocks noGrp="1"/>
          </p:cNvSpPr>
          <p:nvPr>
            <p:ph type="ftr" sz="quarter" idx="11"/>
          </p:nvPr>
        </p:nvSpPr>
        <p:spPr bwMode="auto"/>
        <p:txBody>
          <a:bodyPr/>
          <a:lstStyle/>
          <a:p>
            <a:pPr>
              <a:defRPr/>
            </a:pPr>
            <a:endParaRPr lang="en-US"/>
          </a:p>
        </p:txBody>
      </p:sp>
      <p:sp>
        <p:nvSpPr>
          <p:cNvPr id="112316750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308440621"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26203681"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73200514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69802450" name="Footer Placeholder 4"/>
          <p:cNvSpPr>
            <a:spLocks noGrp="1"/>
          </p:cNvSpPr>
          <p:nvPr>
            <p:ph type="ftr" sz="quarter" idx="11"/>
          </p:nvPr>
        </p:nvSpPr>
        <p:spPr bwMode="auto"/>
        <p:txBody>
          <a:bodyPr/>
          <a:lstStyle/>
          <a:p>
            <a:pPr>
              <a:defRPr/>
            </a:pPr>
            <a:endParaRPr lang="en-US"/>
          </a:p>
        </p:txBody>
      </p:sp>
      <p:sp>
        <p:nvSpPr>
          <p:cNvPr id="115668196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904726755" name="Title 1"/>
          <p:cNvSpPr>
            <a:spLocks noGrp="1"/>
          </p:cNvSpPr>
          <p:nvPr>
            <p:ph type="title"/>
          </p:nvPr>
        </p:nvSpPr>
        <p:spPr bwMode="auto"/>
        <p:txBody>
          <a:bodyPr/>
          <a:lstStyle/>
          <a:p>
            <a:pPr>
              <a:defRPr/>
            </a:pPr>
            <a:r>
              <a:rPr lang="en-US"/>
              <a:t>Click to edit Master title style</a:t>
            </a:r>
            <a:endParaRPr lang="en-US"/>
          </a:p>
        </p:txBody>
      </p:sp>
      <p:sp>
        <p:nvSpPr>
          <p:cNvPr id="1383284972"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80544442"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019062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46716370" name="Footer Placeholder 5"/>
          <p:cNvSpPr>
            <a:spLocks noGrp="1"/>
          </p:cNvSpPr>
          <p:nvPr>
            <p:ph type="ftr" sz="quarter" idx="11"/>
          </p:nvPr>
        </p:nvSpPr>
        <p:spPr bwMode="auto"/>
        <p:txBody>
          <a:bodyPr/>
          <a:lstStyle/>
          <a:p>
            <a:pPr>
              <a:defRPr/>
            </a:pPr>
            <a:endParaRPr lang="en-US"/>
          </a:p>
        </p:txBody>
      </p:sp>
      <p:sp>
        <p:nvSpPr>
          <p:cNvPr id="127156154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23345723"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1960022938"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46441405"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91075103"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82906281"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27256396"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58369941" name="Footer Placeholder 7"/>
          <p:cNvSpPr>
            <a:spLocks noGrp="1"/>
          </p:cNvSpPr>
          <p:nvPr>
            <p:ph type="ftr" sz="quarter" idx="11"/>
          </p:nvPr>
        </p:nvSpPr>
        <p:spPr bwMode="auto"/>
        <p:txBody>
          <a:bodyPr/>
          <a:lstStyle/>
          <a:p>
            <a:pPr>
              <a:defRPr/>
            </a:pPr>
            <a:endParaRPr lang="en-US"/>
          </a:p>
        </p:txBody>
      </p:sp>
      <p:sp>
        <p:nvSpPr>
          <p:cNvPr id="192578965"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4704560" name="Title 1"/>
          <p:cNvSpPr>
            <a:spLocks noGrp="1"/>
          </p:cNvSpPr>
          <p:nvPr>
            <p:ph type="title"/>
          </p:nvPr>
        </p:nvSpPr>
        <p:spPr bwMode="auto"/>
        <p:txBody>
          <a:bodyPr/>
          <a:lstStyle/>
          <a:p>
            <a:pPr>
              <a:defRPr/>
            </a:pPr>
            <a:r>
              <a:rPr lang="en-US"/>
              <a:t>Click to edit Master title style</a:t>
            </a:r>
            <a:endParaRPr lang="en-US"/>
          </a:p>
        </p:txBody>
      </p:sp>
      <p:sp>
        <p:nvSpPr>
          <p:cNvPr id="57303109"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98753643" name="Footer Placeholder 3"/>
          <p:cNvSpPr>
            <a:spLocks noGrp="1"/>
          </p:cNvSpPr>
          <p:nvPr>
            <p:ph type="ftr" sz="quarter" idx="11"/>
          </p:nvPr>
        </p:nvSpPr>
        <p:spPr bwMode="auto"/>
        <p:txBody>
          <a:bodyPr/>
          <a:lstStyle/>
          <a:p>
            <a:pPr>
              <a:defRPr/>
            </a:pPr>
            <a:endParaRPr lang="en-US"/>
          </a:p>
        </p:txBody>
      </p:sp>
      <p:sp>
        <p:nvSpPr>
          <p:cNvPr id="1736669905"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424348317"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71310449" name="Footer Placeholder 2"/>
          <p:cNvSpPr>
            <a:spLocks noGrp="1"/>
          </p:cNvSpPr>
          <p:nvPr>
            <p:ph type="ftr" sz="quarter" idx="11"/>
          </p:nvPr>
        </p:nvSpPr>
        <p:spPr bwMode="auto"/>
        <p:txBody>
          <a:bodyPr/>
          <a:lstStyle/>
          <a:p>
            <a:pPr>
              <a:defRPr/>
            </a:pPr>
            <a:endParaRPr lang="en-US"/>
          </a:p>
        </p:txBody>
      </p:sp>
      <p:sp>
        <p:nvSpPr>
          <p:cNvPr id="2071224012"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932619285"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545587680"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6574126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636084768"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46485792" name="Footer Placeholder 5"/>
          <p:cNvSpPr>
            <a:spLocks noGrp="1"/>
          </p:cNvSpPr>
          <p:nvPr>
            <p:ph type="ftr" sz="quarter" idx="11"/>
          </p:nvPr>
        </p:nvSpPr>
        <p:spPr bwMode="auto"/>
        <p:txBody>
          <a:bodyPr/>
          <a:lstStyle/>
          <a:p>
            <a:pPr>
              <a:defRPr/>
            </a:pPr>
            <a:endParaRPr lang="en-US"/>
          </a:p>
        </p:txBody>
      </p:sp>
      <p:sp>
        <p:nvSpPr>
          <p:cNvPr id="932861035"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34365987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36498648"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757828579"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340401753"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87830731" name="Footer Placeholder 5"/>
          <p:cNvSpPr>
            <a:spLocks noGrp="1"/>
          </p:cNvSpPr>
          <p:nvPr>
            <p:ph type="ftr" sz="quarter" idx="11"/>
          </p:nvPr>
        </p:nvSpPr>
        <p:spPr bwMode="auto"/>
        <p:txBody>
          <a:bodyPr/>
          <a:lstStyle/>
          <a:p>
            <a:pPr>
              <a:defRPr/>
            </a:pPr>
            <a:endParaRPr lang="en-US"/>
          </a:p>
        </p:txBody>
      </p:sp>
      <p:sp>
        <p:nvSpPr>
          <p:cNvPr id="150765266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404518494" name="Title 1"/>
          <p:cNvSpPr>
            <a:spLocks noGrp="1"/>
          </p:cNvSpPr>
          <p:nvPr>
            <p:ph type="title"/>
          </p:nvPr>
        </p:nvSpPr>
        <p:spPr bwMode="auto"/>
        <p:txBody>
          <a:bodyPr/>
          <a:lstStyle/>
          <a:p>
            <a:pPr>
              <a:defRPr/>
            </a:pPr>
            <a:r>
              <a:rPr lang="en-US"/>
              <a:t>Click to edit Master title style</a:t>
            </a:r>
            <a:endParaRPr lang="en-US"/>
          </a:p>
        </p:txBody>
      </p:sp>
      <p:sp>
        <p:nvSpPr>
          <p:cNvPr id="255131097"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69096376"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13216386" name="Footer Placeholder 4"/>
          <p:cNvSpPr>
            <a:spLocks noGrp="1"/>
          </p:cNvSpPr>
          <p:nvPr>
            <p:ph type="ftr" sz="quarter" idx="11"/>
          </p:nvPr>
        </p:nvSpPr>
        <p:spPr bwMode="auto"/>
        <p:txBody>
          <a:bodyPr/>
          <a:lstStyle/>
          <a:p>
            <a:pPr>
              <a:defRPr/>
            </a:pPr>
            <a:endParaRPr lang="en-US"/>
          </a:p>
        </p:txBody>
      </p:sp>
      <p:sp>
        <p:nvSpPr>
          <p:cNvPr id="1074923972"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098545561"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327520922"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86044431"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799559706" name="Footer Placeholder 4"/>
          <p:cNvSpPr>
            <a:spLocks noGrp="1"/>
          </p:cNvSpPr>
          <p:nvPr>
            <p:ph type="ftr" sz="quarter" idx="11"/>
          </p:nvPr>
        </p:nvSpPr>
        <p:spPr bwMode="auto"/>
        <p:txBody>
          <a:bodyPr/>
          <a:lstStyle/>
          <a:p>
            <a:pPr>
              <a:defRPr/>
            </a:pPr>
            <a:endParaRPr lang="en-US"/>
          </a:p>
        </p:txBody>
      </p:sp>
      <p:sp>
        <p:nvSpPr>
          <p:cNvPr id="137089728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875992827"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856867294"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97050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1878946541"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23135901"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github.com/AndyMoran"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7927707" name="Title 1"/>
          <p:cNvSpPr>
            <a:spLocks noGrp="1"/>
          </p:cNvSpPr>
          <p:nvPr>
            <p:ph type="ctrTitle"/>
          </p:nvPr>
        </p:nvSpPr>
        <p:spPr bwMode="auto"/>
        <p:txBody>
          <a:bodyPr vertOverflow="overflow" horzOverflow="overflow" vert="horz" wrap="square" lIns="91440" tIns="45720" rIns="91440" bIns="45720" numCol="1" spcCol="0" rtlCol="0" fromWordArt="0" anchor="b" anchorCtr="0" forceAA="0" upright="0" compatLnSpc="0">
            <a:normAutofit fontScale="95000" lnSpcReduction="1000"/>
          </a:bodyPr>
          <a:lstStyle/>
          <a:p>
            <a:pPr>
              <a:defRPr/>
            </a:pPr>
            <a:r>
              <a:rPr lang="en-US" sz="6000" b="0" i="0" u="none" strike="noStrike" cap="none" spc="0">
                <a:solidFill>
                  <a:schemeClr val="tx1"/>
                </a:solidFill>
                <a:latin typeface="Arial"/>
                <a:ea typeface="Arial"/>
                <a:cs typeface="Arial"/>
              </a:rPr>
              <a:t>Bellabeat: Bayesian Analysis of Hourly Activity Patterns  </a:t>
            </a:r>
            <a:endParaRPr lang="en-US"/>
          </a:p>
        </p:txBody>
      </p:sp>
      <p:sp>
        <p:nvSpPr>
          <p:cNvPr id="72789484" name="Subtitle 2"/>
          <p:cNvSpPr>
            <a:spLocks noGrp="1"/>
          </p:cNvSpPr>
          <p:nvPr>
            <p:ph type="subTitle"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sz="2400" b="0" i="0" u="none" strike="noStrike" cap="none" spc="0">
                <a:solidFill>
                  <a:schemeClr val="tx1"/>
                </a:solidFill>
                <a:latin typeface="Arial"/>
                <a:ea typeface="Arial"/>
                <a:cs typeface="Arial"/>
              </a:rPr>
              <a:t>And</a:t>
            </a:r>
            <a:r>
              <a:rPr lang="en-GB" sz="2400" b="0" i="0" u="none" strike="noStrike" cap="none" spc="0">
                <a:solidFill>
                  <a:schemeClr val="tx1"/>
                </a:solidFill>
                <a:latin typeface="Arial"/>
                <a:ea typeface="Arial"/>
                <a:cs typeface="Arial"/>
              </a:rPr>
              <a:t>y</a:t>
            </a:r>
            <a:r>
              <a:rPr lang="en-US" sz="2400" b="0" i="0" u="none" strike="noStrike" cap="none" spc="0">
                <a:solidFill>
                  <a:schemeClr val="tx1"/>
                </a:solidFill>
                <a:latin typeface="Arial"/>
                <a:ea typeface="Arial"/>
                <a:cs typeface="Arial"/>
              </a:rPr>
              <a:t> Moran</a:t>
            </a:r>
            <a:endParaRPr lang="en-US" sz="2400" b="0" i="0" u="none" strike="noStrike" cap="none" spc="0">
              <a:solidFill>
                <a:schemeClr val="tx1"/>
              </a:solidFill>
              <a:latin typeface="Arial"/>
              <a:cs typeface="Arial"/>
            </a:endParaRPr>
          </a:p>
          <a:p>
            <a:pPr>
              <a:defRPr/>
            </a:pPr>
            <a:r>
              <a:rPr lang="en-US" sz="2400" b="0" i="0" u="none" strike="noStrike" cap="none" spc="0">
                <a:solidFill>
                  <a:schemeClr val="tx1"/>
                </a:solidFill>
                <a:latin typeface="Arial"/>
                <a:ea typeface="Arial"/>
                <a:cs typeface="Arial"/>
              </a:rPr>
              <a:t>Data Analytics Case Study</a:t>
            </a:r>
            <a:endParaRPr lang="en-US" sz="2400" b="0" i="0" u="none" strike="noStrike" cap="none" spc="0">
              <a:solidFill>
                <a:schemeClr val="tx1"/>
              </a:solidFill>
              <a:latin typeface="Arial"/>
              <a:cs typeface="Arial"/>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8523202"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Project Goal</a:t>
            </a:r>
            <a:endParaRPr/>
          </a:p>
        </p:txBody>
      </p:sp>
      <p:sp>
        <p:nvSpPr>
          <p:cNvPr id="41706870"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45000" lnSpcReduction="11000"/>
          </a:bodyPr>
          <a:lstStyle/>
          <a:p>
            <a:pPr marL="0" indent="0">
              <a:buFont typeface="Arial"/>
              <a:buNone/>
              <a:defRPr/>
            </a:pPr>
            <a:r>
              <a:rPr lang="en-US" sz="2800" b="1" i="0" u="none" strike="noStrike" cap="none" spc="0">
                <a:solidFill>
                  <a:schemeClr val="tx1"/>
                </a:solidFill>
                <a:latin typeface="Arial"/>
                <a:ea typeface="Arial"/>
                <a:cs typeface="Arial"/>
              </a:rPr>
              <a:t>What we wanted to understand</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Do personas differ in when they are active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Are these differences statistically credible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Can we use this to improve personalization</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marL="0" indent="0">
              <a:buFont typeface="Arial"/>
              <a:buNone/>
              <a:defRPr/>
            </a:pPr>
            <a:r>
              <a:rPr lang="en-US" sz="2800" b="1" i="0" u="none" strike="noStrike" cap="none" spc="0">
                <a:solidFill>
                  <a:schemeClr val="tx1"/>
                </a:solidFill>
                <a:latin typeface="Arial"/>
                <a:ea typeface="Arial"/>
                <a:cs typeface="Arial"/>
              </a:rPr>
              <a:t>Why it matters</a:t>
            </a:r>
            <a:endParaRPr sz="2800" b="1"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Better timing for notifications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More relevant coaching</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Higher engagement and retention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3993697"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Data Overview</a:t>
            </a:r>
            <a:endParaRPr/>
          </a:p>
        </p:txBody>
      </p:sp>
      <p:sp>
        <p:nvSpPr>
          <p:cNvPr id="1553021207"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45000" lnSpcReduction="11000"/>
          </a:bodyPr>
          <a:lstStyle/>
          <a:p>
            <a:pPr marL="0" indent="0">
              <a:buFont typeface="Arial"/>
              <a:buNone/>
              <a:defRPr/>
            </a:pPr>
            <a:r>
              <a:rPr lang="en-US" sz="2800" b="1" i="0" u="none" strike="noStrike" cap="none" spc="0">
                <a:solidFill>
                  <a:schemeClr val="tx1"/>
                </a:solidFill>
                <a:latin typeface="Arial"/>
                <a:ea typeface="Arial"/>
                <a:cs typeface="Arial"/>
              </a:rPr>
              <a:t>Datasets used</a:t>
            </a:r>
            <a:endParaRPr sz="2800" b="1"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Hourly steps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Daily activity</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labels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marL="0" indent="0">
              <a:buFont typeface="Arial"/>
              <a:buNone/>
              <a:defRPr/>
            </a:pPr>
            <a:r>
              <a:rPr lang="en-US" sz="2800" b="1" i="0" u="none" strike="noStrike" cap="none" spc="0">
                <a:solidFill>
                  <a:schemeClr val="tx1"/>
                </a:solidFill>
                <a:latin typeface="Arial"/>
                <a:ea typeface="Arial"/>
                <a:cs typeface="Arial"/>
              </a:rPr>
              <a:t>Final modeling dataset</a:t>
            </a:r>
            <a:endParaRPr sz="2800" b="1" i="0" u="none" strike="noStrike" cap="none" spc="0">
              <a:solidFill>
                <a:schemeClr val="tx1"/>
              </a:solidFill>
              <a:latin typeface="Arial"/>
              <a:cs typeface="Arial"/>
            </a:endParaRPr>
          </a:p>
          <a:p>
            <a:pPr marL="0" indent="0">
              <a:buFont typeface="Arial"/>
              <a:buNone/>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24 hours × multiple days × 33 users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4 personas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Hourly step counts (scaled)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9565001"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Exploratory Findings</a:t>
            </a:r>
            <a:endParaRPr/>
          </a:p>
        </p:txBody>
      </p:sp>
      <p:sp>
        <p:nvSpPr>
          <p:cNvPr id="1750565413"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0000" lnSpcReduction="2000"/>
          </a:bodyPr>
          <a:lstStyle/>
          <a:p>
            <a:pPr marL="0" indent="0">
              <a:buFont typeface="Arial"/>
              <a:buNone/>
              <a:defRPr/>
            </a:pPr>
            <a:r>
              <a:rPr lang="en-US" sz="2800" b="1" i="0" u="none" strike="noStrike" cap="none" spc="0">
                <a:solidFill>
                  <a:schemeClr val="tx1"/>
                </a:solidFill>
                <a:latin typeface="Arial"/>
                <a:ea typeface="Arial"/>
                <a:cs typeface="Arial"/>
              </a:rPr>
              <a:t>Raw hourly means show clear differences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0: morning‑active</a:t>
            </a:r>
            <a:endParaRPr sz="2800" b="0" i="0" u="none" strike="noStrike" cap="none" spc="0">
              <a:solidFill>
                <a:schemeClr val="tx1"/>
              </a:solidFill>
              <a:latin typeface="Arial"/>
              <a:cs typeface="Arial"/>
            </a:endParaRPr>
          </a:p>
          <a:p>
            <a:pPr>
              <a:defRPr/>
            </a:pPr>
            <a:endParaRPr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1: steady all day</a:t>
            </a:r>
            <a:endParaRPr sz="2800" b="0" i="0" u="none" strike="noStrike" cap="none" spc="0">
              <a:solidFill>
                <a:schemeClr val="tx1"/>
              </a:solidFill>
              <a:latin typeface="Arial"/>
              <a:cs typeface="Arial"/>
            </a:endParaRPr>
          </a:p>
          <a:p>
            <a:pPr>
              <a:defRPr/>
            </a:pPr>
            <a:endParaRPr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2: evening‑active</a:t>
            </a:r>
            <a:endParaRPr sz="2800" b="0" i="0" u="none" strike="noStrike" cap="none" spc="0">
              <a:solidFill>
                <a:schemeClr val="tx1"/>
              </a:solidFill>
              <a:latin typeface="Arial"/>
              <a:cs typeface="Arial"/>
            </a:endParaRPr>
          </a:p>
          <a:p>
            <a:pPr>
              <a:defRPr/>
            </a:pPr>
            <a:endParaRPr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3: lowest overall</a:t>
            </a:r>
            <a:endParaRPr/>
          </a:p>
        </p:txBody>
      </p:sp>
      <p:pic>
        <p:nvPicPr>
          <p:cNvPr id="841279775" name=""/>
          <p:cNvPicPr>
            <a:picLocks noChangeAspect="1"/>
          </p:cNvPicPr>
          <p:nvPr/>
        </p:nvPicPr>
        <p:blipFill rotWithShape="1">
          <a:blip r:embed="rId3"/>
          <a:stretch/>
        </p:blipFill>
        <p:spPr bwMode="auto">
          <a:xfrm flipH="0" flipV="0">
            <a:off x="5851677" y="2808019"/>
            <a:ext cx="5685076" cy="3077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4147491"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Why Bayesian Modeling?</a:t>
            </a:r>
            <a:endParaRPr/>
          </a:p>
        </p:txBody>
      </p:sp>
      <p:sp>
        <p:nvSpPr>
          <p:cNvPr id="165199239"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40000" lnSpcReduction="12000"/>
          </a:bodyPr>
          <a:lstStyle/>
          <a:p>
            <a:pPr marL="0" indent="0">
              <a:buFont typeface="Arial"/>
              <a:buNone/>
              <a:defRPr/>
            </a:pPr>
            <a:r>
              <a:rPr lang="en-US" sz="2800" b="1" i="0" u="none" strike="noStrike" cap="none" spc="0">
                <a:solidFill>
                  <a:schemeClr val="tx1"/>
                </a:solidFill>
                <a:latin typeface="Arial"/>
                <a:ea typeface="Arial"/>
                <a:cs typeface="Arial"/>
              </a:rPr>
              <a:t>Why not rely on raw averages?</a:t>
            </a:r>
            <a:endParaRPr sz="2800" b="1"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No uncertainty quantification</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Sensitive to noise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Doesn’t validate whether differences are real</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marL="0" indent="0">
              <a:buFont typeface="Arial"/>
              <a:buNone/>
              <a:defRPr/>
            </a:pPr>
            <a:r>
              <a:rPr lang="en-US" sz="2800" b="1" i="0" u="none" strike="noStrike" cap="none" spc="0">
                <a:solidFill>
                  <a:schemeClr val="tx1"/>
                </a:solidFill>
                <a:latin typeface="Arial"/>
                <a:ea typeface="Arial"/>
                <a:cs typeface="Arial"/>
              </a:rPr>
              <a:t>Bayesian advantages</a:t>
            </a:r>
            <a:endParaRPr sz="2800" b="1"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Full posterior distributions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Credible intervals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Smooth persona‑specific curves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Clear comparisons between personas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7548951" name="Title 1"/>
          <p:cNvSpPr>
            <a:spLocks noGrp="1"/>
          </p:cNvSpPr>
          <p:nvPr>
            <p:ph type="title"/>
          </p:nvPr>
        </p:nvSpPr>
        <p:spPr bwMode="auto"/>
        <p:txBody>
          <a:bodyPr/>
          <a:lstStyle/>
          <a:p>
            <a:pPr>
              <a:defRPr/>
            </a:pPr>
            <a:r>
              <a:rPr lang="en-GB"/>
              <a:t>Model Structure</a:t>
            </a:r>
            <a:endParaRPr/>
          </a:p>
        </p:txBody>
      </p:sp>
      <p:sp>
        <p:nvSpPr>
          <p:cNvPr id="1299872930"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65000" lnSpcReduction="7000"/>
          </a:bodyPr>
          <a:lstStyle/>
          <a:p>
            <a:pPr marL="0" indent="0">
              <a:buFont typeface="Arial"/>
              <a:buNone/>
              <a:defRPr/>
            </a:pPr>
            <a:endParaRPr/>
          </a:p>
          <a:p>
            <a:pPr marL="0" indent="0">
              <a:buFont typeface="Arial"/>
              <a:buNone/>
              <a:defRPr/>
            </a:pPr>
            <a:r>
              <a:rPr lang="en-US" sz="2800" b="0" i="0" u="none" strike="noStrike" cap="none" spc="0">
                <a:solidFill>
                  <a:schemeClr val="tx1"/>
                </a:solidFill>
                <a:latin typeface="Arial"/>
                <a:ea typeface="Arial"/>
                <a:cs typeface="Arial"/>
              </a:rPr>
              <a:t>Model</a:t>
            </a:r>
            <a:endParaRPr lang="en-US" sz="2800" b="0" i="0" u="none" strike="noStrike" cap="none" spc="0">
              <a:solidFill>
                <a:schemeClr val="tx1"/>
              </a:solidFill>
              <a:latin typeface="Arial"/>
              <a:ea typeface="Arial"/>
              <a:cs typeface="Arial"/>
            </a:endParaRPr>
          </a:p>
          <a:p>
            <a:pPr marL="0" indent="0">
              <a:buFont typeface="Arial"/>
              <a:buNone/>
              <a:defRPr/>
            </a:pPr>
            <a:r>
              <a:rPr sz="1800" b="0" i="0" u="none">
                <a:solidFill>
                  <a:srgbClr val="000000"/>
                </a:solidFill>
                <a:latin typeface="Arial"/>
                <a:ea typeface="Arial"/>
                <a:cs typeface="Arial"/>
              </a:rPr>
              <a:t>y</a:t>
            </a:r>
            <a:r>
              <a:rPr sz="1800" b="0" i="0" u="none">
                <a:solidFill>
                  <a:srgbClr val="000000"/>
                </a:solidFill>
                <a:latin typeface="Arial"/>
                <a:ea typeface="Arial"/>
                <a:cs typeface="Arial"/>
              </a:rPr>
              <a:t>p</a:t>
            </a:r>
            <a:r>
              <a:rPr sz="1800" b="0" i="0" u="none">
                <a:solidFill>
                  <a:srgbClr val="000000"/>
                </a:solidFill>
                <a:latin typeface="Arial"/>
                <a:ea typeface="Arial"/>
                <a:cs typeface="Arial"/>
              </a:rPr>
              <a:t>,</a:t>
            </a:r>
            <a:r>
              <a:rPr sz="1800" b="0" i="0" u="none">
                <a:solidFill>
                  <a:srgbClr val="000000"/>
                </a:solidFill>
                <a:latin typeface="Arial"/>
                <a:ea typeface="Arial"/>
                <a:cs typeface="Arial"/>
              </a:rPr>
              <a:t>h</a:t>
            </a:r>
            <a:r>
              <a:rPr sz="1800" b="0" i="0" u="none">
                <a:solidFill>
                  <a:srgbClr val="000000"/>
                </a:solidFill>
                <a:latin typeface="Arial"/>
                <a:ea typeface="Arial"/>
                <a:cs typeface="Arial"/>
              </a:rPr>
              <a:t>∼</a:t>
            </a:r>
            <a:r>
              <a:rPr sz="1800" b="0" i="0" u="none">
                <a:solidFill>
                  <a:srgbClr val="000000"/>
                </a:solidFill>
                <a:latin typeface="Arial"/>
                <a:ea typeface="Arial"/>
                <a:cs typeface="Arial"/>
              </a:rPr>
              <a:t>Normal</a:t>
            </a:r>
            <a:r>
              <a:rPr sz="1800" b="0" i="0" u="none">
                <a:solidFill>
                  <a:srgbClr val="000000"/>
                </a:solidFill>
                <a:latin typeface="Arial"/>
                <a:ea typeface="Arial"/>
                <a:cs typeface="Arial"/>
              </a:rPr>
              <a:t>(</a:t>
            </a:r>
            <a:r>
              <a:rPr sz="1800" b="0" i="0" u="none">
                <a:solidFill>
                  <a:srgbClr val="000000"/>
                </a:solidFill>
                <a:latin typeface="Arial"/>
                <a:ea typeface="Arial"/>
                <a:cs typeface="Arial"/>
              </a:rPr>
              <a:t>α</a:t>
            </a:r>
            <a:r>
              <a:rPr sz="1800" b="0" i="0" u="none">
                <a:solidFill>
                  <a:srgbClr val="000000"/>
                </a:solidFill>
                <a:latin typeface="Arial"/>
                <a:ea typeface="Arial"/>
                <a:cs typeface="Arial"/>
              </a:rPr>
              <a:t>p</a:t>
            </a:r>
            <a:r>
              <a:rPr sz="1800" b="0" i="0" u="none">
                <a:solidFill>
                  <a:srgbClr val="000000"/>
                </a:solidFill>
                <a:latin typeface="Arial"/>
                <a:ea typeface="Arial"/>
                <a:cs typeface="Arial"/>
              </a:rPr>
              <a:t>+</a:t>
            </a:r>
            <a:r>
              <a:rPr sz="1800" b="0" i="0" u="none">
                <a:solidFill>
                  <a:srgbClr val="000000"/>
                </a:solidFill>
                <a:latin typeface="Arial"/>
                <a:ea typeface="Arial"/>
                <a:cs typeface="Arial"/>
              </a:rPr>
              <a:t>β</a:t>
            </a:r>
            <a:r>
              <a:rPr sz="1800" b="0" i="0" u="none">
                <a:solidFill>
                  <a:srgbClr val="000000"/>
                </a:solidFill>
                <a:latin typeface="Arial"/>
                <a:ea typeface="Arial"/>
                <a:cs typeface="Arial"/>
              </a:rPr>
              <a:t>p</a:t>
            </a:r>
            <a:r>
              <a:rPr sz="1800" b="0" i="0" u="none">
                <a:solidFill>
                  <a:srgbClr val="000000"/>
                </a:solidFill>
                <a:latin typeface="Arial"/>
                <a:ea typeface="Arial"/>
                <a:cs typeface="Arial"/>
              </a:rPr>
              <a:t>,</a:t>
            </a:r>
            <a:r>
              <a:rPr sz="1800" b="0" i="0" u="none">
                <a:solidFill>
                  <a:srgbClr val="000000"/>
                </a:solidFill>
                <a:latin typeface="Arial"/>
                <a:ea typeface="Arial"/>
                <a:cs typeface="Arial"/>
              </a:rPr>
              <a:t>h</a:t>
            </a:r>
            <a:r>
              <a:rPr sz="1800" b="0" i="0" u="none">
                <a:solidFill>
                  <a:srgbClr val="000000"/>
                </a:solidFill>
                <a:latin typeface="Arial"/>
                <a:ea typeface="Arial"/>
                <a:cs typeface="Arial"/>
              </a:rPr>
              <a:t>,</a:t>
            </a:r>
            <a:r>
              <a:rPr sz="1800" b="0" i="0" u="none">
                <a:solidFill>
                  <a:srgbClr val="000000"/>
                </a:solidFill>
                <a:latin typeface="Arial"/>
                <a:ea typeface="Arial"/>
                <a:cs typeface="Arial"/>
              </a:rPr>
              <a:t>σ</a:t>
            </a:r>
            <a:r>
              <a:rPr sz="1800" b="0" i="0" u="none">
                <a:solidFill>
                  <a:srgbClr val="000000"/>
                </a:solidFill>
                <a:latin typeface="Arial"/>
                <a:ea typeface="Arial"/>
                <a:cs typeface="Arial"/>
              </a:rPr>
              <a:t>)</a:t>
            </a:r>
            <a:endParaRPr sz="1800">
              <a:latin typeface="Arial"/>
              <a:cs typeface="Arial"/>
            </a:endParaRPr>
          </a:p>
          <a:p>
            <a:pPr marL="0" indent="0">
              <a:buFont typeface="Arial"/>
              <a:buNone/>
              <a:defRPr/>
            </a:pPr>
            <a:endParaRPr/>
          </a:p>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𝛼</m:t>
                          </m:r>
                        </m:e>
                        <m:sub>
                          <m:r>
                            <m:rPr/>
                            <a:rPr/>
                            <m:t>𝑝</m:t>
                          </m:r>
                        </m:sub>
                      </m:sSub>
                    </m:oMath>
                  </m:oMathPara>
                </a14:m>
              </mc:Choice>
              <mc:Fallback/>
            </mc:AlternateContent>
            <a:r>
              <a:rPr sz="1600" b="0" i="0" u="none">
                <a:solidFill>
                  <a:srgbClr val="000000"/>
                </a:solidFill>
                <a:latin typeface="Arial"/>
                <a:ea typeface="Arial"/>
                <a:cs typeface="Arial"/>
              </a:rPr>
              <a:t>: </a:t>
            </a:r>
            <a:r>
              <a:rPr sz="1800" b="0" i="0" u="none">
                <a:solidFill>
                  <a:srgbClr val="000000"/>
                </a:solidFill>
                <a:latin typeface="Arial"/>
                <a:ea typeface="Arial"/>
                <a:cs typeface="Arial"/>
              </a:rPr>
              <a:t>persona baselin</a:t>
            </a:r>
            <a:r>
              <a:rPr sz="1800" b="0" i="0" u="none">
                <a:solidFill>
                  <a:srgbClr val="000000"/>
                </a:solidFill>
                <a:latin typeface="Arial"/>
                <a:ea typeface="Arial"/>
                <a:cs typeface="Arial"/>
              </a:rPr>
              <a:t>e</a:t>
            </a:r>
            <a:endParaRPr/>
          </a:p>
          <a:p>
            <a:pPr>
              <a:defRPr/>
            </a:pPr>
            <mc:AlternateContent xmlns:mc="http://schemas.openxmlformats.org/markup-compatibility/2006" xmlns:m="http://schemas.openxmlformats.org/officeDocument/2006/math">
              <mc:Choice xmlns:a14="http://schemas.microsoft.com/office/drawing/2010/main" Requires="a14">
                <a14:m>
                  <m:oMathPara>
                    <m:oMathParaPr/>
                    <m:oMath>
                      <m:sSub>
                        <m:sSubPr>
                          <m:ctrlPr>
                            <a:rPr/>
                          </m:ctrlPr>
                        </m:sSubPr>
                        <m:e>
                          <m:r>
                            <m:rPr/>
                            <a:rPr/>
                            <m:t>𝛽</m:t>
                          </m:r>
                        </m:e>
                        <m:sub>
                          <m:r>
                            <m:rPr/>
                            <a:rPr/>
                            <m:t>𝑝</m:t>
                          </m:r>
                          <m:r>
                            <m:rPr/>
                            <a:rPr/>
                            <m:t>,</m:t>
                          </m:r>
                          <m:r>
                            <m:rPr/>
                            <a:rPr/>
                            <m:t>ℎ</m:t>
                          </m:r>
                        </m:sub>
                      </m:sSub>
                    </m:oMath>
                  </m:oMathPara>
                </a14:m>
              </mc:Choice>
              <mc:Fallback/>
            </mc:AlternateContent>
            <a:r>
              <a:rPr sz="1200" b="0" i="0" u="none">
                <a:solidFill>
                  <a:srgbClr val="000000"/>
                </a:solidFill>
                <a:latin typeface="Times New Roman"/>
                <a:ea typeface="Times New Roman"/>
                <a:cs typeface="Times New Roman"/>
              </a:rPr>
              <a:t>:</a:t>
            </a:r>
            <a:r>
              <a:rPr sz="1800" b="0" i="0" u="none">
                <a:solidFill>
                  <a:srgbClr val="000000"/>
                </a:solidFill>
                <a:latin typeface="Arial"/>
                <a:ea typeface="Arial"/>
                <a:cs typeface="Arial"/>
              </a:rPr>
              <a:t> persona‑specific hourly effec</a:t>
            </a:r>
            <a:r>
              <a:rPr sz="1200" b="0" i="0" u="none">
                <a:solidFill>
                  <a:srgbClr val="000000"/>
                </a:solidFill>
                <a:latin typeface="Times New Roman"/>
                <a:ea typeface="Times New Roman"/>
                <a:cs typeface="Times New Roman"/>
              </a:rPr>
              <a:t>t</a:t>
            </a:r>
            <a:endParaRPr/>
          </a:p>
          <a:p>
            <a:pPr>
              <a:defRPr/>
            </a:pPr>
            <mc:AlternateContent xmlns:mc="http://schemas.openxmlformats.org/markup-compatibility/2006" xmlns:m="http://schemas.openxmlformats.org/officeDocument/2006/math">
              <mc:Choice xmlns:a14="http://schemas.microsoft.com/office/drawing/2010/main" Requires="a14">
                <a14:m>
                  <m:oMathPara>
                    <m:oMathParaPr/>
                    <m:oMath>
                      <m:r>
                        <m:rPr/>
                        <a:rPr/>
                        <m:t>𝜎</m:t>
                      </m:r>
                    </m:oMath>
                  </m:oMathPara>
                </a14:m>
              </mc:Choice>
              <mc:Fallback/>
            </mc:AlternateContent>
            <a:r>
              <a:rPr sz="1800" b="0" i="0" u="none">
                <a:solidFill>
                  <a:srgbClr val="000000"/>
                </a:solidFill>
                <a:latin typeface="Arial"/>
                <a:ea typeface="Arial"/>
                <a:cs typeface="Arial"/>
              </a:rPr>
              <a:t>: shared noise</a:t>
            </a:r>
            <a:endParaRPr sz="1800">
              <a:latin typeface="Arial"/>
              <a:cs typeface="Arial"/>
            </a:endParaRPr>
          </a:p>
          <a:p>
            <a:pPr marL="0" indent="0">
              <a:buFont typeface="Arial"/>
              <a:buNone/>
              <a:defRPr/>
            </a:pPr>
            <a:r>
              <a:rPr lang="en-US" sz="2800" b="0" i="0" u="none" strike="noStrike" cap="none" spc="0">
                <a:solidFill>
                  <a:schemeClr val="tx1"/>
                </a:solidFill>
                <a:latin typeface="Arial"/>
                <a:ea typeface="Arial"/>
                <a:cs typeface="Arial"/>
              </a:rPr>
              <a:t>Inference</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ADVI for efficiency</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2000 posterior samples</a:t>
            </a:r>
            <a:endParaRPr/>
          </a:p>
          <a:p>
            <a:pPr marL="0" indent="0">
              <a:buFont typeface="Arial"/>
              <a:buNone/>
              <a:defRPr/>
            </a:pPr>
            <a:endParaRPr/>
          </a:p>
          <a:p>
            <a:pPr marL="0" indent="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7538640"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Posterior Curves</a:t>
            </a:r>
            <a:endParaRPr/>
          </a:p>
        </p:txBody>
      </p:sp>
      <p:pic>
        <p:nvPicPr>
          <p:cNvPr id="1040324603" name=""/>
          <p:cNvPicPr>
            <a:picLocks noChangeAspect="1"/>
          </p:cNvPicPr>
          <p:nvPr/>
        </p:nvPicPr>
        <p:blipFill rotWithShape="1">
          <a:blip r:embed="rId3"/>
          <a:stretch/>
        </p:blipFill>
        <p:spPr bwMode="auto">
          <a:xfrm flipH="0" flipV="0">
            <a:off x="838199" y="1740168"/>
            <a:ext cx="4990075" cy="4743202"/>
          </a:xfrm>
          <a:prstGeom prst="rect">
            <a:avLst/>
          </a:prstGeom>
        </p:spPr>
      </p:pic>
      <p:pic>
        <p:nvPicPr>
          <p:cNvPr id="87530582" name=""/>
          <p:cNvPicPr>
            <a:picLocks noChangeAspect="1"/>
          </p:cNvPicPr>
          <p:nvPr/>
        </p:nvPicPr>
        <p:blipFill rotWithShape="1">
          <a:blip r:embed="rId4"/>
          <a:stretch/>
        </p:blipFill>
        <p:spPr bwMode="auto">
          <a:xfrm flipH="0" flipV="0">
            <a:off x="6404054" y="1585559"/>
            <a:ext cx="4949745" cy="48978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3896918"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Posterior Predictive Check</a:t>
            </a:r>
            <a:endParaRPr/>
          </a:p>
        </p:txBody>
      </p:sp>
      <p:pic>
        <p:nvPicPr>
          <p:cNvPr id="588569563" name=""/>
          <p:cNvPicPr>
            <a:picLocks noChangeAspect="1"/>
          </p:cNvPicPr>
          <p:nvPr/>
        </p:nvPicPr>
        <p:blipFill rotWithShape="1">
          <a:blip r:embed="rId3"/>
          <a:stretch/>
        </p:blipFill>
        <p:spPr bwMode="auto">
          <a:xfrm flipH="0" flipV="0">
            <a:off x="317417" y="1499259"/>
            <a:ext cx="7180442" cy="48332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9009517"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Persona Contrast Example</a:t>
            </a:r>
            <a:endParaRPr/>
          </a:p>
        </p:txBody>
      </p:sp>
      <p:sp>
        <p:nvSpPr>
          <p:cNvPr id="2039947536" name="Content Placeholder 2"/>
          <p:cNvSpPr>
            <a:spLocks noGrp="1"/>
          </p:cNvSpPr>
          <p:nvPr>
            <p:ph idx="1"/>
          </p:nvPr>
        </p:nvSpPr>
        <p:spPr bwMode="auto"/>
        <p:txBody>
          <a:bodyPr/>
          <a:lstStyle/>
          <a:p>
            <a:pPr marL="0" indent="0">
              <a:buFont typeface="Arial"/>
              <a:buNone/>
              <a:defRPr/>
            </a:pPr>
            <a:r>
              <a:rPr lang="en-US" sz="2800" b="0" i="0" u="none" strike="noStrike" cap="none" spc="0">
                <a:solidFill>
                  <a:schemeClr val="tx1"/>
                </a:solidFill>
                <a:latin typeface="Arial"/>
                <a:ea typeface="Arial"/>
                <a:cs typeface="Arial"/>
              </a:rPr>
              <a:t>Contrast: Persona 0 vs Persona 3 at 8 AM</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Difference: ~0 to +450 steps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Entire credible interval above </a:t>
            </a:r>
            <a:br>
              <a:rPr lang="en-US" sz="2800" b="0" i="0" u="none" strike="noStrike" cap="none" spc="0">
                <a:solidFill>
                  <a:schemeClr val="tx1"/>
                </a:solidFill>
                <a:latin typeface="Arial"/>
                <a:ea typeface="Arial"/>
                <a:cs typeface="Arial"/>
              </a:rPr>
            </a:br>
            <a:r>
              <a:rPr lang="en-US" sz="2800" b="0" i="0" u="none" strike="noStrike" cap="none" spc="0">
                <a:solidFill>
                  <a:schemeClr val="tx1"/>
                </a:solidFill>
                <a:latin typeface="Arial"/>
                <a:ea typeface="Arial"/>
                <a:cs typeface="Arial"/>
              </a:rPr>
              <a:t>zero</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Strong evidence Persona 0 is</a:t>
            </a:r>
            <a:br>
              <a:rPr lang="en-US" sz="2800" b="0" i="0" u="none" strike="noStrike" cap="none" spc="0">
                <a:solidFill>
                  <a:schemeClr val="tx1"/>
                </a:solidFill>
                <a:latin typeface="Arial"/>
                <a:ea typeface="Arial"/>
                <a:cs typeface="Arial"/>
              </a:rPr>
            </a:br>
            <a:r>
              <a:rPr lang="en-US" sz="2800" b="0" i="0" u="none" strike="noStrike" cap="none" spc="0">
                <a:solidFill>
                  <a:schemeClr val="tx1"/>
                </a:solidFill>
                <a:latin typeface="Arial"/>
                <a:ea typeface="Arial"/>
                <a:cs typeface="Arial"/>
              </a:rPr>
              <a:t> more active</a:t>
            </a:r>
            <a:endParaRPr/>
          </a:p>
        </p:txBody>
      </p:sp>
      <p:pic>
        <p:nvPicPr>
          <p:cNvPr id="1662452890" name=""/>
          <p:cNvPicPr>
            <a:picLocks noChangeAspect="1"/>
          </p:cNvPicPr>
          <p:nvPr/>
        </p:nvPicPr>
        <p:blipFill rotWithShape="1">
          <a:blip r:embed="rId3"/>
          <a:stretch/>
        </p:blipFill>
        <p:spPr bwMode="auto">
          <a:xfrm flipH="0" flipV="0">
            <a:off x="6009409" y="2776963"/>
            <a:ext cx="6155347" cy="326621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3374542"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Contrast Heatmap</a:t>
            </a:r>
            <a:endParaRPr/>
          </a:p>
        </p:txBody>
      </p:sp>
      <p:pic>
        <p:nvPicPr>
          <p:cNvPr id="1647657132" name=""/>
          <p:cNvPicPr>
            <a:picLocks noChangeAspect="1"/>
          </p:cNvPicPr>
          <p:nvPr/>
        </p:nvPicPr>
        <p:blipFill rotWithShape="1">
          <a:blip r:embed="rId3"/>
          <a:stretch/>
        </p:blipFill>
        <p:spPr bwMode="auto">
          <a:xfrm flipH="0" flipV="0">
            <a:off x="2208453" y="1499422"/>
            <a:ext cx="8170936" cy="4975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546780"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Business Implications</a:t>
            </a:r>
            <a:endParaRPr/>
          </a:p>
        </p:txBody>
      </p:sp>
      <p:sp>
        <p:nvSpPr>
          <p:cNvPr id="187639133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65000" lnSpcReduction="7000"/>
          </a:bodyPr>
          <a:lstStyle/>
          <a:p>
            <a:pPr marL="0" indent="0">
              <a:buFont typeface="Arial"/>
              <a:buNone/>
              <a:defRPr/>
            </a:pPr>
            <a:r>
              <a:rPr lang="en-US" sz="2800" b="1" i="0" u="none" strike="noStrike" cap="none" spc="0">
                <a:solidFill>
                  <a:schemeClr val="tx1"/>
                </a:solidFill>
                <a:latin typeface="Arial"/>
                <a:ea typeface="Arial"/>
                <a:cs typeface="Arial"/>
              </a:rPr>
              <a:t>Personalization opportunities</a:t>
            </a:r>
            <a:endParaRPr lang="en-US" sz="2800" b="0" i="0" u="none" strike="noStrike" cap="none" spc="0">
              <a:solidFill>
                <a:schemeClr val="tx1"/>
              </a:solidFill>
              <a:latin typeface="Arial"/>
              <a:cs typeface="Arial"/>
            </a:endParaRPr>
          </a:p>
          <a:p>
            <a:pPr marL="0" indent="0">
              <a:buFont typeface="Arial"/>
              <a:buNone/>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0 </a:t>
            </a:r>
            <a:r>
              <a:rPr lang="en-GB" sz="2800" b="0" i="0" u="none" strike="noStrike" cap="none" spc="0">
                <a:solidFill>
                  <a:schemeClr val="tx1"/>
                </a:solidFill>
                <a:latin typeface="Arial"/>
                <a:ea typeface="Arial"/>
                <a:cs typeface="Arial"/>
              </a:rPr>
              <a:t>—</a:t>
            </a:r>
            <a:r>
              <a:rPr lang="en-US" sz="2800" b="0" i="0" u="none" strike="noStrike" cap="none" spc="0">
                <a:solidFill>
                  <a:schemeClr val="tx1"/>
                </a:solidFill>
                <a:latin typeface="Arial"/>
                <a:ea typeface="Arial"/>
                <a:cs typeface="Arial"/>
              </a:rPr>
              <a:t> morning nudges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1 </a:t>
            </a:r>
            <a:r>
              <a:rPr lang="en-GB" sz="2800" b="0" i="0" u="none" strike="noStrike" cap="none" spc="0">
                <a:solidFill>
                  <a:schemeClr val="tx1"/>
                </a:solidFill>
                <a:latin typeface="Arial"/>
                <a:ea typeface="Arial"/>
                <a:cs typeface="Arial"/>
              </a:rPr>
              <a:t>—</a:t>
            </a:r>
            <a:r>
              <a:rPr lang="en-US" sz="2800" b="0" i="0" u="none" strike="noStrike" cap="none" spc="0">
                <a:solidFill>
                  <a:schemeClr val="tx1"/>
                </a:solidFill>
                <a:latin typeface="Arial"/>
                <a:ea typeface="Arial"/>
                <a:cs typeface="Arial"/>
              </a:rPr>
              <a:t> habit reinforcement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2 </a:t>
            </a:r>
            <a:r>
              <a:rPr lang="en-GB" sz="2800" b="0" i="0" u="none" strike="noStrike" cap="none" spc="0">
                <a:solidFill>
                  <a:schemeClr val="tx1"/>
                </a:solidFill>
                <a:latin typeface="Arial"/>
                <a:ea typeface="Arial"/>
                <a:cs typeface="Arial"/>
              </a:rPr>
              <a:t>—</a:t>
            </a:r>
            <a:r>
              <a:rPr lang="en-US" sz="2800" b="0" i="0" u="none" strike="noStrike" cap="none" spc="0">
                <a:solidFill>
                  <a:schemeClr val="tx1"/>
                </a:solidFill>
                <a:latin typeface="Arial"/>
                <a:ea typeface="Arial"/>
                <a:cs typeface="Arial"/>
              </a:rPr>
              <a:t> evening reminders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 3 </a:t>
            </a:r>
            <a:r>
              <a:rPr lang="en-GB" sz="2800" b="0" i="0" u="none" strike="noStrike" cap="none" spc="0">
                <a:solidFill>
                  <a:schemeClr val="tx1"/>
                </a:solidFill>
                <a:latin typeface="Arial"/>
                <a:ea typeface="Arial"/>
                <a:cs typeface="Arial"/>
              </a:rPr>
              <a:t>—</a:t>
            </a:r>
            <a:r>
              <a:rPr lang="en-US" sz="2800" b="0" i="0" u="none" strike="noStrike" cap="none" spc="0">
                <a:solidFill>
                  <a:schemeClr val="tx1"/>
                </a:solidFill>
                <a:latin typeface="Arial"/>
                <a:ea typeface="Arial"/>
                <a:cs typeface="Arial"/>
              </a:rPr>
              <a:t> gentle onboarding</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marL="0" indent="0">
              <a:buFont typeface="Arial"/>
              <a:buNone/>
              <a:defRPr/>
            </a:pPr>
            <a:r>
              <a:rPr lang="en-US" sz="2800" b="1" i="0" u="none" strike="noStrike" cap="none" spc="0">
                <a:solidFill>
                  <a:schemeClr val="tx1"/>
                </a:solidFill>
                <a:latin typeface="Arial"/>
                <a:ea typeface="Arial"/>
                <a:cs typeface="Arial"/>
              </a:rPr>
              <a:t>Product value</a:t>
            </a:r>
            <a:r>
              <a:rPr lang="en-US" sz="2800" b="0" i="0" u="none" strike="noStrike" cap="none" spc="0">
                <a:solidFill>
                  <a:schemeClr val="tx1"/>
                </a:solidFill>
                <a:latin typeface="Arial"/>
                <a:ea typeface="Arial"/>
                <a:cs typeface="Arial"/>
              </a:rPr>
              <a:t>  </a:t>
            </a:r>
            <a:endParaRPr lang="en-US" sz="2800" b="0" i="0" u="none" strike="noStrike" cap="none" spc="0">
              <a:solidFill>
                <a:schemeClr val="tx1"/>
              </a:solidFill>
              <a:latin typeface="Arial"/>
              <a:cs typeface="Arial"/>
            </a:endParaRPr>
          </a:p>
          <a:p>
            <a:pPr marL="0" indent="0">
              <a:buFont typeface="Arial"/>
              <a:buNone/>
              <a:defRPr/>
            </a:pPr>
            <a:r>
              <a:rPr lang="en-GB" sz="2800" b="0" i="0" u="none" strike="noStrike" cap="none" spc="0">
                <a:solidFill>
                  <a:schemeClr val="tx1"/>
                </a:solidFill>
                <a:latin typeface="Arial"/>
                <a:ea typeface="Arial"/>
                <a:cs typeface="Arial"/>
              </a:rPr>
              <a:t>—</a:t>
            </a:r>
            <a:r>
              <a:rPr lang="en-US" sz="2800" b="0" i="0" u="none" strike="noStrike" cap="none" spc="0">
                <a:solidFill>
                  <a:schemeClr val="tx1"/>
                </a:solidFill>
                <a:latin typeface="Arial"/>
                <a:ea typeface="Arial"/>
                <a:cs typeface="Arial"/>
              </a:rPr>
              <a:t> Better timing </a:t>
            </a:r>
            <a:r>
              <a:rPr lang="en-GB" sz="2800" b="0" i="0" u="none" strike="noStrike" cap="none" spc="0">
                <a:solidFill>
                  <a:schemeClr val="tx1"/>
                </a:solidFill>
                <a:latin typeface="Arial"/>
                <a:ea typeface="Arial"/>
                <a:cs typeface="Arial"/>
              </a:rPr>
              <a:t>—</a:t>
            </a:r>
            <a:r>
              <a:rPr lang="en-US" sz="2800" b="0" i="0" u="none" strike="noStrike" cap="none" spc="0">
                <a:solidFill>
                  <a:schemeClr val="tx1"/>
                </a:solidFill>
                <a:latin typeface="Arial"/>
                <a:ea typeface="Arial"/>
                <a:cs typeface="Arial"/>
              </a:rPr>
              <a:t> higher relevance </a:t>
            </a:r>
            <a:r>
              <a:rPr lang="en-GB" sz="2800" b="0" i="0" u="none" strike="noStrike" cap="none" spc="0">
                <a:solidFill>
                  <a:schemeClr val="tx1"/>
                </a:solidFill>
                <a:latin typeface="Arial"/>
                <a:ea typeface="Arial"/>
                <a:cs typeface="Arial"/>
              </a:rPr>
              <a:t> — </a:t>
            </a:r>
            <a:r>
              <a:rPr lang="en-US" sz="2800" b="0" i="0" u="none" strike="noStrike" cap="none" spc="0">
                <a:solidFill>
                  <a:schemeClr val="tx1"/>
                </a:solidFill>
                <a:latin typeface="Arial"/>
                <a:ea typeface="Arial"/>
                <a:cs typeface="Arial"/>
              </a:rPr>
              <a:t>stronger engagement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6779319"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Limitations</a:t>
            </a:r>
            <a:endParaRPr/>
          </a:p>
        </p:txBody>
      </p:sp>
      <p:sp>
        <p:nvSpPr>
          <p:cNvPr id="454474499" name="Content Placeholder 2"/>
          <p:cNvSpPr>
            <a:spLocks noGrp="1"/>
          </p:cNvSpPr>
          <p:nvPr>
            <p:ph idx="1"/>
          </p:nvPr>
        </p:nvSpPr>
        <p:spPr bwMode="auto"/>
        <p:txBody>
          <a:bodyPr/>
          <a:lstStyle/>
          <a:p>
            <a:pPr>
              <a:defRPr/>
            </a:pPr>
            <a:r>
              <a:rPr lang="en-US" sz="2800" b="0" i="0" u="none" strike="noStrike" cap="none" spc="0">
                <a:solidFill>
                  <a:schemeClr val="tx1"/>
                </a:solidFill>
                <a:latin typeface="Arial"/>
                <a:ea typeface="Arial"/>
                <a:cs typeface="Arial"/>
              </a:rPr>
              <a:t>Observational data; no causal claims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Step counts measure volume, not intensity</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Personas derived from clustering</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Limited time window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7122046"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Conclusion</a:t>
            </a:r>
            <a:endParaRPr/>
          </a:p>
        </p:txBody>
      </p:sp>
      <p:sp>
        <p:nvSpPr>
          <p:cNvPr id="1689260482"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buFont typeface="Arial"/>
              <a:buNone/>
              <a:defRPr/>
            </a:pPr>
            <a:r>
              <a:rPr lang="en-US" sz="2800" b="0" i="0" u="none" strike="noStrike" cap="none" spc="0">
                <a:solidFill>
                  <a:schemeClr val="tx1"/>
                </a:solidFill>
                <a:latin typeface="Arial"/>
                <a:ea typeface="Arial"/>
                <a:cs typeface="Arial"/>
              </a:rPr>
              <a:t>What we learned</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Personas differ in when they move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Differences are statistically credible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Bayesian modeling validates the patterns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marL="0" indent="0">
              <a:buFont typeface="Arial"/>
              <a:buNone/>
              <a:defRPr/>
            </a:pPr>
            <a:r>
              <a:rPr lang="en-US" sz="2800" b="0" i="0" u="none" strike="noStrike" cap="none" spc="0">
                <a:solidFill>
                  <a:schemeClr val="tx1"/>
                </a:solidFill>
                <a:latin typeface="Arial"/>
                <a:ea typeface="Arial"/>
                <a:cs typeface="Arial"/>
              </a:rPr>
              <a:t>Clear opportunities for personalization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2038540"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Thank You</a:t>
            </a:r>
            <a:endParaRPr/>
          </a:p>
        </p:txBody>
      </p:sp>
      <p:sp>
        <p:nvSpPr>
          <p:cNvPr id="1207718568" name="Content Placeholder 2"/>
          <p:cNvSpPr>
            <a:spLocks noGrp="1"/>
          </p:cNvSpPr>
          <p:nvPr>
            <p:ph idx="1"/>
          </p:nvPr>
        </p:nvSpPr>
        <p:spPr bwMode="auto"/>
        <p:txBody>
          <a:bodyPr/>
          <a:lstStyle/>
          <a:p>
            <a:pPr marL="0" indent="0">
              <a:buFont typeface="Arial"/>
              <a:buNone/>
              <a:defRPr/>
            </a:pPr>
            <a:r>
              <a:rPr u="sng">
                <a:solidFill>
                  <a:schemeClr val="hlink"/>
                </a:solidFill>
                <a:hlinkClick r:id="rId3" tooltip=""/>
              </a:rPr>
              <a:t>AndyMoran</a:t>
            </a:r>
            <a:endParaRPr/>
          </a:p>
          <a:p>
            <a:pPr marL="0" indent="0">
              <a:buFont typeface="Arial"/>
              <a:buNone/>
              <a:defRPr/>
            </a:pPr>
            <a:endParaRPr/>
          </a:p>
          <a:p>
            <a:pPr marL="0" indent="0">
              <a:buFont typeface="Arial"/>
              <a:buNone/>
              <a:defRPr/>
            </a:pPr>
            <a:r>
              <a:rPr lang="en-US" sz="2800" b="0" i="0" u="sng" strike="noStrike" cap="none" spc="0">
                <a:solidFill>
                  <a:schemeClr val="tx1"/>
                </a:solidFill>
                <a:latin typeface="Arial"/>
                <a:ea typeface="Arial"/>
                <a:cs typeface="Arial"/>
                <a:hlinkClick r:id="rId3" tooltip=""/>
              </a:rPr>
              <a:t>https://github.com/AndyMoran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ONLYOFFICE/9.2.1.43</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cp:revision>
  <dcterms:modified xsi:type="dcterms:W3CDTF">2026-01-18T20:56:33Z</dcterms:modified>
</cp:coreProperties>
</file>