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70263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55488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4634931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32790099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50324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662409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2282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4232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Welcome everyone. Today I’ll walk through a full analysis of Cyclistic’s rider behaviour, based on 5.4 million trips taken between December 2024 and November 2025.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goal is simple: understand how members and casual riders differ, and whether those differences support Cyclistic’s aim to grow annual membership while keeping the system financially sustainable.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analysis combines descriptive analytics, revenue modelling, station patterns, and predictive modelling to give a clear, evidence‑based view of how the system works.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012819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headline is that members and casual riders behave in sharply different ways. Members ride like commuters: short trips, predictable timing, strong weekday patterns. Casual riders behave like leisure users: longer trips, more variability, and strong weekend and summer peaks.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But the most important finding is financial. Many casual riders pay more than the membership fee, but only by a small margin. When they convert, Cyclistic loses more casual revenue than it gains in membership fees.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means membership is underpriced relative to heavy casual usage.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station analysis shows two distinct ecosystems — downtown commuter corridors and lakefront leisure zones.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predictive model confirms the behavioural divide.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Together, these findings point to a need for pricing review and targeted operational planning.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B98274-569F-B4FD-B489-A50EFD9182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Cyclistic’s stated goal is to grow its base of annual members. Membership provides predictable revenue and supports long‑term planning.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But converting casual riders only makes sense if it improves Cyclistic’s financial position.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analysis gives Cyclistic the behavioural and financial evidence needed to make informed decisions about pricing, marketing, and operations.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71C66-4ADD-C1D9-DA0B-2E79010AB3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dataset spans a full seasonal cycle, which is important because casual ridership is highly seasonal.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cleaning pipeline standardised timestamps, removed duplicates, validated categories, and created engineered fields like trip duration, weekend indicators, peak‑hour flags, and month.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engineered fields are essential for behavioural and revenue analysis.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2D1015-5AE3-408B-4C45-354035DF83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is the core question. Everything else — revenue modelling, station analysis, predictive modelling — supports this.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We want to understand not just how riders behave, but whether those behaviours translate into profitable membership conversion.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3F656-9B6A-3621-01D7-46371CAF5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Trip duration is one of the clearest behavioural signals.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take short, practical trips that match commuting patterns.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take longer trips, often 20–30 minutes or more, with a long tail of very long rides.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suggests that members use Cyclistic for transport, while casual riders use it for leisure or tourism.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difference becomes important later when we analyse revenue.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59D2D9-1643-E8FE-3831-B4535E32ED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Temporal patterns reinforce the commuter vs leisure divide.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ride heavily during weekday peak hours — 7–9 AM and 4–6 PM — which aligns with work commutes.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show a flatter distribution, with more activity in the middle of the day and on weekends.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difference is consistent across the entire year.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794D6-B242-DC60-7955-96F8901B5E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Electric bikes now account for nearly two‑thirds of all rides for both groups.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is a system‑wide shift, not a rider‑type preference.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means Cyclistic must treat e‑bike charging, maintenance, and distribution as core operational priorities.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also affects pricing strategy, because e‑bikes cost more to operate.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30E86D-8E15-DF4C-C7AD-9B6CEF1291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Seasonality is one of the strongest drivers of casual demand.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ridership surges in summer, especially near lakefront stations.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show a smaller summer increase but remain more stable across the year.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has implications for fleet allocation, staffing, and maintenance cycles.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D0441F-FDDC-55C2-13D3-58D503975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Across all descriptive metrics, the behavioural divide is consistent.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behave like commuters. Casual riders behave like leisure users.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Electric bike usage is similar, which means e‑bike demand is universal.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patterns set the stage for the revenue analysis.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804A55-7225-4AAE-EDFE-EC53A8CC62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Cyclistic’s dataset does not include rider‑level identifiers, so we cannot calculate annual spending per rider.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Instead, we use a trip‑level proxy: trip duration multiplied by the per‑minute casual price.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For the membership model, we apply the 45‑minute free allowance and calculate overage minutes.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method respects the limits of the dataset and provides a consistent basis for comparing casual and member revenue.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331CFB-2167-7FCB-9580-1B82DC916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key insight is that many casual riders pay more than the membership fee — but only slightly more.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When they convert, Cyclistic loses the higher casual revenue and replaces it with a lower membership fee.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means membership is underpriced relative to the value heavy casual riders generate.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Membership builds loyalty and stability, but it does not increase revenue under current pricing.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0548F8-C4D4-BA18-36D1-21AA3798B2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net revenue impact of converting a rider is: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/>
                        <m:t>Net Revenue Change</m:t>
                      </m:r>
                      <m:r>
                        <m:rPr/>
                        <a:rPr/>
                        <m:t>=</m:t>
                      </m:r>
                      <m:r>
                        <m:rPr/>
                        <a:rPr/>
                        <m:t>Membership Fee</m:t>
                      </m:r>
                      <m:r>
                        <m:rPr/>
                        <a:rPr/>
                        <m:t>−</m:t>
                      </m:r>
                      <m:r>
                        <m:rPr/>
                        <a:rPr/>
                        <m:t>Casual Revenue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rider who generates £200 in casual revenue and a rider who generates £180 both “exceed the fee,” but converting them replaces higher casual revenue with a lower membership fee: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/>
                        <m:t>£</m:t>
                      </m:r>
                      <m:r>
                        <m:rPr/>
                        <a:rPr/>
                        <m:t>100</m:t>
                      </m:r>
                      <m:r>
                        <m:rPr/>
                        <a:rPr/>
                        <m:t>−</m:t>
                      </m:r>
                      <m:r>
                        <m:rPr/>
                        <a:rPr/>
                        <m:t>£</m:t>
                      </m:r>
                      <m:r>
                        <m:rPr/>
                        <a:rPr/>
                        <m:t>200</m:t>
                      </m:r>
                      <m:r>
                        <m:rPr/>
                        <a:rPr/>
                        <m:t>=</m:t>
                      </m:r>
                      <m:r>
                        <m:rPr/>
                        <a:rPr/>
                        <m:t>−</m:t>
                      </m:r>
                      <m:r>
                        <m:rPr/>
                        <a:rPr/>
                        <m:t>£</m:t>
                      </m:r>
                      <m:r>
                        <m:rPr/>
                        <a:rPr/>
                        <m:t>100</m:t>
                      </m:r>
                    </m:oMath>
                  </m:oMathPara>
                </a14:m>
              </mc:Choice>
              <mc:Fallback/>
            </mc:AlternateContent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/>
                        <m:t>£</m:t>
                      </m:r>
                      <m:r>
                        <m:rPr/>
                        <a:rPr/>
                        <m:t>100</m:t>
                      </m:r>
                      <m:r>
                        <m:rPr/>
                        <a:rPr/>
                        <m:t>−</m:t>
                      </m:r>
                      <m:r>
                        <m:rPr/>
                        <a:rPr/>
                        <m:t>£</m:t>
                      </m:r>
                      <m:r>
                        <m:rPr/>
                        <a:rPr/>
                        <m:t>180</m:t>
                      </m:r>
                      <m:r>
                        <m:rPr/>
                        <a:rPr/>
                        <m:t>=</m:t>
                      </m:r>
                      <m:r>
                        <m:rPr/>
                        <a:rPr/>
                        <m:t>−</m:t>
                      </m:r>
                      <m:r>
                        <m:rPr/>
                        <a:rPr/>
                        <m:t>£</m:t>
                      </m:r>
                      <m:r>
                        <m:rPr/>
                        <a:rPr/>
                        <m:t>80</m:t>
                      </m:r>
                    </m:oMath>
                  </m:oMathPara>
                </a14:m>
              </mc:Choice>
              <mc:Fallback/>
            </mc:AlternateContent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Both conversions lose revenue. Exceeding the membership fee is </a:t>
            </a:r>
            <a:r>
              <a:rPr sz="1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enough.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understand how much overage is needed to break even, we test several profitability thresholds: 20%, 50%, 100%, and 200% above the membership fee. The heatmap shows that even at very high thresholds, conversion still produces a net revenue loss. The membership fee is priced far below the economic value of heavy casual usage.</a:t>
            </a:r>
            <a:endParaRPr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conclusion is clear: under the current pricing model, converting high‑usage casual riders is financially disadvantageous. Cyclistic should not pursue conversion as a revenue strategy until the membership price is reviewed.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FF6D0A-C3A9-DB57-B7D0-96A3EDBF7C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station analysis reveals two distinct ecosystems.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Downtown stations serve commuters and show strong weekday peaks.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Lakefront stations serve leisure riders and show strong weekend and summer peaks.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These zones require different operational strategies — more dock capacity downtown, more weekend rebalancing along the lakefront.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6CC0D6-1D32-129D-2686-DD13BA113B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models confirm what the descriptive analysis showed. Trip duration separates members from casual riders. Time‑based features—hour, peak periods, weekends, and seasons—also play major roles.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Random Forest highlights duration because it captures non‑linear patterns. Logistic Regression lifts seasonal and categorical features because it responds to how variables are encoded.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models differ in emphasis but point to the same truth: members and casual riders behave in distinct ways. The goal is not perfect prediction. The goal is to understand which behaviours matter and use them to guide marketing and operations.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D1BAB7-3498-27F8-522C-B9DAFB674F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 should review its membership price, which is currently too low relative to heavy casual usage.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Operational planning should recognise the two‑network structure — commuter downtown, leisure lakefront.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Marketing should target casual riders who already behave like members.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Seasonal campaigns can capture riders active in late summer.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E‑bike demand must be treated as a core operational priority.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EE63E3-2044-52E0-AFD3-A8CDB06512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This analysis gives Cyclistic a clear, evidence‑based view of rider behaviour and the financial impact of conversion.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It shows that behavioural differences are strong, but they do not translate into profitable membership growth under current pricing.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 can use these insights to refine pricing, improve operations, and plan for long‑term sustainability.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030C7-F33E-F6B5-A7DC-1FD056984F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C2BE54-CA4F-FEEA-A592-018DC8D4AD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81176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090037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346626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02872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16819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0150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12254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75972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87322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31815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73985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77667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14973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08086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96218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681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40037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47965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29991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36333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5785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79227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83565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581206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858921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693718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752899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704627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18908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7964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41785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465326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7155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54276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6045311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844050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5427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43350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7156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87000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23118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334043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58673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51931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0980730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788829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577024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29778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6108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882518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107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137495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88748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1654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480972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8001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05392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411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36955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30159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46129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72956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48839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61805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 Case Study  </a:t>
            </a:r>
            <a:endParaRPr lang="en-US"/>
          </a:p>
        </p:txBody>
      </p:sp>
      <p:sp>
        <p:nvSpPr>
          <p:cNvPr id="23157603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Understanding Rider Behaviour and Membership Strategy  </a:t>
            </a:r>
            <a:endParaRPr lang="en-US" sz="24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Insights from 5.4 million trips (Dec 2024–Nov 2025)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95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Executive Summary</a:t>
            </a:r>
            <a:endParaRPr/>
          </a:p>
        </p:txBody>
      </p:sp>
      <p:sp>
        <p:nvSpPr>
          <p:cNvPr id="152827371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and casual riders behave very differently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take short, predictable weekday trips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take longer, variable trips with weekend and summer peaks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Revenue modelling shows conversion reduces revenue under current pricing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Two station ecosystems: commuter vs leisure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Predictive models confirm the behavioural divide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 should review pricing and tailor operations to both groups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9945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Business Context</a:t>
            </a:r>
            <a:endParaRPr b="1"/>
          </a:p>
        </p:txBody>
      </p:sp>
      <p:sp>
        <p:nvSpPr>
          <p:cNvPr id="6816743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 aims to grow annual membership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Needs a clear view of rider behaviour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Must understand financial impact of conversion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Analysis supports marketing, pricing, and operations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8023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Overview</a:t>
            </a:r>
            <a:endParaRPr/>
          </a:p>
        </p:txBody>
      </p:sp>
      <p:sp>
        <p:nvSpPr>
          <p:cNvPr id="19638702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5.4 million trips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Dec 2024–Nov 2025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Cleaned and validated in a separate pipeline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Engineered fields: duration, weekend flag, peak hours, month, hour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5469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Key Question</a:t>
            </a:r>
            <a:endParaRPr/>
          </a:p>
        </p:txBody>
      </p:sp>
      <p:sp>
        <p:nvSpPr>
          <p:cNvPr id="19573865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do members and casual riders differ, and do those differences support membership growth?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895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Trip Duration Differences</a:t>
            </a:r>
            <a:endParaRPr/>
          </a:p>
        </p:txBody>
      </p:sp>
      <p:sp>
        <p:nvSpPr>
          <p:cNvPr id="16363037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Members: short, consistent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trips (5–15 min)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riders: longer, variable trips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distribution has a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long right tail</a:t>
            </a:r>
            <a:endParaRPr/>
          </a:p>
        </p:txBody>
      </p:sp>
      <p:pic>
        <p:nvPicPr>
          <p:cNvPr id="13676604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69346" y="3569835"/>
            <a:ext cx="6117134" cy="26071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3342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Temporal Patterns</a:t>
            </a:r>
            <a:endParaRPr/>
          </a:p>
        </p:txBody>
      </p:sp>
      <p:sp>
        <p:nvSpPr>
          <p:cNvPr id="18800815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ride on weekdays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ride on weekends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show strong AM/PM peaks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ride more midday and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afternoon</a:t>
            </a:r>
            <a:endParaRPr/>
          </a:p>
        </p:txBody>
      </p:sp>
      <p:pic>
        <p:nvPicPr>
          <p:cNvPr id="8745014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744967" y="1094654"/>
            <a:ext cx="4243048" cy="3084841"/>
          </a:xfrm>
          <a:prstGeom prst="rect">
            <a:avLst/>
          </a:prstGeom>
        </p:spPr>
      </p:pic>
      <p:pic>
        <p:nvPicPr>
          <p:cNvPr id="202254667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991380" y="4179495"/>
            <a:ext cx="3996635" cy="23450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87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Rideable Type Usage</a:t>
            </a:r>
            <a:endParaRPr/>
          </a:p>
        </p:txBody>
      </p:sp>
      <p:sp>
        <p:nvSpPr>
          <p:cNvPr id="13839268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Electric bikes dominate both groups (≈63–65%)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 meaningful difference between members and casuals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E‑bike demand is system‑wide</a:t>
            </a:r>
            <a:endParaRPr/>
          </a:p>
        </p:txBody>
      </p:sp>
      <p:pic>
        <p:nvPicPr>
          <p:cNvPr id="9953305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78531" y="3429000"/>
            <a:ext cx="4482121" cy="3311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547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Seasonal Patterns</a:t>
            </a:r>
            <a:endParaRPr/>
          </a:p>
        </p:txBody>
      </p:sp>
      <p:sp>
        <p:nvSpPr>
          <p:cNvPr id="40936787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ridership peaks sharply in summer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 ridership is steadier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Winter drop affects both groups</a:t>
            </a:r>
            <a:endParaRPr/>
          </a:p>
        </p:txBody>
      </p:sp>
      <p:pic>
        <p:nvPicPr>
          <p:cNvPr id="13234356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20040" y="2746168"/>
            <a:ext cx="5229825" cy="3381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721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Behavioural Summary</a:t>
            </a:r>
            <a:endParaRPr/>
          </a:p>
        </p:txBody>
      </p:sp>
      <p:sp>
        <p:nvSpPr>
          <p:cNvPr id="64815559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= short, predictable,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commuter‑style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= long, variable,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leisure‑oriented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Electric bike usage similar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 ride weekdays; casuals ride weekends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Casual riders show strong summer peaks</a:t>
            </a:r>
            <a:endParaRPr/>
          </a:p>
        </p:txBody>
      </p:sp>
      <p:pic>
        <p:nvPicPr>
          <p:cNvPr id="19401102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02759" y="813625"/>
            <a:ext cx="4862544" cy="3929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237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Revenue Proxy Model (Trip‑Level)</a:t>
            </a:r>
            <a:endParaRPr/>
          </a:p>
        </p:txBody>
      </p:sp>
      <p:sp>
        <p:nvSpPr>
          <p:cNvPr id="8892031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Dataset has no rider IDs → rider‑level revenue impossible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Revenue model uses trip duration × per‑minute price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 model uses 45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free minutes + overage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Provides a consistent,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defensible estimate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2349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Revenue Findings</a:t>
            </a:r>
            <a:endParaRPr/>
          </a:p>
        </p:txBody>
      </p:sp>
      <p:sp>
        <p:nvSpPr>
          <p:cNvPr id="143750622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Many casual riders pay more than the membership fee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Most exceed it by only a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small amount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Converting them reduces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revenue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Membership is underpriced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relative to heavy casual usage</a:t>
            </a:r>
            <a:endParaRPr/>
          </a:p>
        </p:txBody>
      </p:sp>
      <p:pic>
        <p:nvPicPr>
          <p:cNvPr id="714707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74181" y="2591129"/>
            <a:ext cx="6164129" cy="2968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693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Profitability Thresholds</a:t>
            </a:r>
            <a:endParaRPr/>
          </a:p>
        </p:txBody>
      </p:sp>
      <p:sp>
        <p:nvSpPr>
          <p:cNvPr id="187332438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Exceeding the membership fee is not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enough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to increase revenue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Most casual riders exceed the fee by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a small margin.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far above the fee must a rider be to make conversion profitable?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est thresholds: 20%, 50%, 100%, 200%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Even at high thresholds, conversion still leads to net revenue loss because the membership fee is priced below the economic value of heavy casual usage.</a:t>
            </a:r>
            <a:endParaRPr/>
          </a:p>
        </p:txBody>
      </p:sp>
      <p:pic>
        <p:nvPicPr>
          <p:cNvPr id="173471822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76980" y="708548"/>
            <a:ext cx="4697403" cy="2720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156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Station Ecosystems</a:t>
            </a:r>
            <a:endParaRPr/>
          </a:p>
        </p:txBody>
      </p:sp>
      <p:sp>
        <p:nvSpPr>
          <p:cNvPr id="10538972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Downtown = commuter network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(members)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Lakefront = leisure network (casuals)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Different operational needs</a:t>
            </a:r>
            <a:endParaRPr/>
          </a:p>
        </p:txBody>
      </p:sp>
      <p:pic>
        <p:nvPicPr>
          <p:cNvPr id="14525129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511415" y="86590"/>
            <a:ext cx="4507650" cy="6593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8359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Predictive Model Insights</a:t>
            </a:r>
            <a:endParaRPr/>
          </a:p>
        </p:txBody>
      </p:sp>
      <p:sp>
        <p:nvSpPr>
          <p:cNvPr id="6453377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Trip duration is a strong behavioural signal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Time‑based features (hour, peak, weekend, season) also matter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Models achieve moderate accuracy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value lies in interpretation, </a:t>
            </a:r>
            <a:b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not prediction</a:t>
            </a:r>
            <a:endParaRPr/>
          </a:p>
        </p:txBody>
      </p:sp>
      <p:pic>
        <p:nvPicPr>
          <p:cNvPr id="11232873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50634" y="3617819"/>
            <a:ext cx="4662943" cy="26945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1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Strategic Recommendations</a:t>
            </a:r>
            <a:endParaRPr/>
          </a:p>
        </p:txBody>
      </p:sp>
      <p:sp>
        <p:nvSpPr>
          <p:cNvPr id="100650968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Review membership pricing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Strengthen operations in commuter and leisure zones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Target member‑like casual riders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Use pricing tests and seasonal campaigns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Treat e‑bike demand as a core priority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956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Closing Note</a:t>
            </a:r>
            <a:endParaRPr/>
          </a:p>
        </p:txBody>
      </p:sp>
      <p:sp>
        <p:nvSpPr>
          <p:cNvPr id="4375854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Cyclistic aims to grow annual membership while keeping the system financially sustainable. This analysis shows how members and casual riders differ and whether those differences support that goal.</a:t>
            </a:r>
            <a:endParaRPr lang="en-U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5881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Thank You</a:t>
            </a:r>
            <a:endParaRPr/>
          </a:p>
        </p:txBody>
      </p:sp>
      <p:sp>
        <p:nvSpPr>
          <p:cNvPr id="16991661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 &amp; Discussion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Moran MSc MPlan</dc:creator>
  <cp:lastModifiedBy/>
  <cp:revision>6</cp:revision>
  <dcterms:modified xsi:type="dcterms:W3CDTF">2026-01-14T17:06:04Z</dcterms:modified>
</cp:coreProperties>
</file>