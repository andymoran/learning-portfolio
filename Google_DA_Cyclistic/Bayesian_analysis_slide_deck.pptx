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5668098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6603893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59527477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4943283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224301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39637655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7942906" name="Slide Image Placeholder 1"/>
          <p:cNvSpPr>
            <a:spLocks noChangeAspect="1" noGrp="1" noRot="1"/>
          </p:cNvSpPr>
          <p:nvPr>
            <p:ph type="sldImg"/>
          </p:nvPr>
        </p:nvSpPr>
        <p:spPr bwMode="auto">
          <a:xfrm>
            <a:off x="685800" y="1143000"/>
            <a:ext cx="5486400" cy="3086100"/>
          </a:xfrm>
        </p:spPr>
      </p:sp>
      <p:sp>
        <p:nvSpPr>
          <p:cNvPr id="46368956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This </a:t>
            </a:r>
            <a:r>
              <a:rPr lang="en-GB" sz="1200" b="0" i="0" u="none">
                <a:solidFill>
                  <a:srgbClr val="000000"/>
                </a:solidFill>
                <a:latin typeface="Times New Roman"/>
                <a:ea typeface="Times New Roman"/>
                <a:cs typeface="Times New Roman"/>
              </a:rPr>
              <a:t>analysis </a:t>
            </a:r>
            <a:r>
              <a:rPr sz="1200" b="0" i="0" u="none">
                <a:solidFill>
                  <a:srgbClr val="000000"/>
                </a:solidFill>
                <a:latin typeface="Times New Roman"/>
                <a:ea typeface="Times New Roman"/>
                <a:cs typeface="Times New Roman"/>
              </a:rPr>
              <a:t>extends the main Cyclistic analysis by using Bayesian models to quantify uncertainty in rider behaviour and revenue. The goal is to understand how members and casual riders differ, how much revenue casual riders generate, and what happens financially if Cyclistic converts casual riders to members. The key message is that Cyclistic’s pricing challenge lies in the member plan, not the casual rate, and that a controlled price experiment is needed to guide future pricing decisions.</a:t>
            </a:r>
            <a:endParaRPr lang="en-US">
              <a:latin typeface="Arial"/>
              <a:cs typeface="Arial"/>
            </a:endParaRPr>
          </a:p>
        </p:txBody>
      </p:sp>
      <p:sp>
        <p:nvSpPr>
          <p:cNvPr id="489586338"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main analysis showed strong behavioural differences between members and casual riders. This addendum goes deeper by quantifying uncertainty. Bayesian modelling lets us express results as probabilities, not just averages. This matters because trip durations and revenues are skewed. The addendum also highlights a key limitation: Cyclistic has no variation in price, so we cannot estimate price elasticity. That limitation shapes the strategic recommendation.</a:t>
            </a:r>
            <a:endParaRPr/>
          </a:p>
        </p:txBody>
      </p:sp>
      <p:sp>
        <p:nvSpPr>
          <p:cNvPr id="4" name="Slide Number Placeholder 3"/>
          <p:cNvSpPr>
            <a:spLocks noGrp="1"/>
          </p:cNvSpPr>
          <p:nvPr>
            <p:ph type="sldNum" sz="quarter" idx="10"/>
          </p:nvPr>
        </p:nvSpPr>
        <p:spPr bwMode="auto"/>
        <p:txBody>
          <a:bodyPr/>
          <a:lstStyle/>
          <a:p>
            <a:pPr>
              <a:defRPr/>
            </a:pPr>
            <a:fld id="{F3F213EC-89BF-E7F1-ADDC-46C8A494D3F7}"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Bayesian modelling is ideal for bike‑share data. Trip durations and revenues are not normally distributed; they’re skewed with long tails. A Bayesian approach models the full distribution and gives us credible intervals, not just point estimates. This helps Cyclistic understand the range of plausible outcomes and make decisions with a clearer sense of uncertainty.</a:t>
            </a:r>
            <a:endParaRPr/>
          </a:p>
        </p:txBody>
      </p:sp>
      <p:sp>
        <p:nvSpPr>
          <p:cNvPr id="4" name="Slide Number Placeholder 3"/>
          <p:cNvSpPr>
            <a:spLocks noGrp="1"/>
          </p:cNvSpPr>
          <p:nvPr>
            <p:ph type="sldNum" sz="quarter" idx="10"/>
          </p:nvPr>
        </p:nvSpPr>
        <p:spPr bwMode="auto"/>
        <p:txBody>
          <a:bodyPr/>
          <a:lstStyle/>
          <a:p>
            <a:pPr>
              <a:defRPr/>
            </a:pPr>
            <a:fld id="{78A00B63-4C85-5299-D619-2FE9530267A6}"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analysis uses the cleaned dataset from the main workflow. I recreated the engineered features needed for modelling, including trip duration, weekend indicators, and peak‑hour flags. I also built subsets for members and casual riders. The logistic regression features are prepared for future work but not used in this addendum.</a:t>
            </a:r>
            <a:endParaRPr/>
          </a:p>
        </p:txBody>
      </p:sp>
      <p:sp>
        <p:nvSpPr>
          <p:cNvPr id="4" name="Slide Number Placeholder 3"/>
          <p:cNvSpPr>
            <a:spLocks noGrp="1"/>
          </p:cNvSpPr>
          <p:nvPr>
            <p:ph type="sldNum" sz="quarter" idx="10"/>
          </p:nvPr>
        </p:nvSpPr>
        <p:spPr bwMode="auto"/>
        <p:txBody>
          <a:bodyPr/>
          <a:lstStyle/>
          <a:p>
            <a:pPr>
              <a:defRPr/>
            </a:pPr>
            <a:fld id="{6414A0E6-C0E2-3ABF-2218-A198FAF3BF7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Trip durations are positive and skewed, so I modelled the log of each duration. The model estimates separate mean log‑durations for members and casual riders. The difference between these means tells us how much longer casual riders ride. This is a clean, interpretable way to quantify behavioural differences.</a:t>
            </a:r>
            <a:endParaRPr/>
          </a:p>
        </p:txBody>
      </p:sp>
      <p:sp>
        <p:nvSpPr>
          <p:cNvPr id="4" name="Slide Number Placeholder 3"/>
          <p:cNvSpPr>
            <a:spLocks noGrp="1"/>
          </p:cNvSpPr>
          <p:nvPr>
            <p:ph type="sldNum" sz="quarter" idx="10"/>
          </p:nvPr>
        </p:nvSpPr>
        <p:spPr bwMode="auto"/>
        <p:txBody>
          <a:bodyPr/>
          <a:lstStyle/>
          <a:p>
            <a:pPr>
              <a:defRPr/>
            </a:pPr>
            <a:fld id="{E30F1BAB-FB27-875C-136E-73DFC6A494B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results are decisive. Every posterior sample shows casual riders taking longer trips. The multiplier is 1.42, with a very tight credible interval. This means casual riders ride about 42% longer. A typical member trip lasts 8.7 minutes; a typical casual trip lasts 12.4 minutes. This aligns with the behavioural story: members ride for commuting; casual riders ride for leisure.</a:t>
            </a:r>
            <a:endParaRPr/>
          </a:p>
        </p:txBody>
      </p:sp>
      <p:sp>
        <p:nvSpPr>
          <p:cNvPr id="4" name="Slide Number Placeholder 3"/>
          <p:cNvSpPr>
            <a:spLocks noGrp="1"/>
          </p:cNvSpPr>
          <p:nvPr>
            <p:ph type="sldNum" sz="quarter" idx="10"/>
          </p:nvPr>
        </p:nvSpPr>
        <p:spPr bwMode="auto"/>
        <p:txBody>
          <a:bodyPr/>
          <a:lstStyle/>
          <a:p>
            <a:pPr>
              <a:defRPr/>
            </a:pPr>
            <a:fld id="{F106BB74-2169-1901-50FD-DF228E569D77}"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posterior predictive check compares the model’s predictions with the actual data. The curves align closely, which shows the model captures real behaviour. This gives us confidence that the duration estimates are reliable and grounded in the data.</a:t>
            </a:r>
            <a:endParaRPr/>
          </a:p>
        </p:txBody>
      </p:sp>
      <p:sp>
        <p:nvSpPr>
          <p:cNvPr id="4" name="Slide Number Placeholder 3"/>
          <p:cNvSpPr>
            <a:spLocks noGrp="1"/>
          </p:cNvSpPr>
          <p:nvPr>
            <p:ph type="sldNum" sz="quarter" idx="10"/>
          </p:nvPr>
        </p:nvSpPr>
        <p:spPr bwMode="auto"/>
        <p:txBody>
          <a:bodyPr/>
          <a:lstStyle/>
          <a:p>
            <a:pPr>
              <a:defRPr/>
            </a:pPr>
            <a:fld id="{AB94D30C-9381-CFCC-69EB-926973347B7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Casual revenue is also skewed, so I used a log‑normal model. The goal is to estimate the average revenue Cyclistic earns from a casual trip. This sets the baseline for comparing casual and member revenue and evaluating the financial impact of converting casual riders to members.</a:t>
            </a:r>
            <a:endParaRPr/>
          </a:p>
        </p:txBody>
      </p:sp>
      <p:sp>
        <p:nvSpPr>
          <p:cNvPr id="4" name="Slide Number Placeholder 3"/>
          <p:cNvSpPr>
            <a:spLocks noGrp="1"/>
          </p:cNvSpPr>
          <p:nvPr>
            <p:ph type="sldNum" sz="quarter" idx="10"/>
          </p:nvPr>
        </p:nvSpPr>
        <p:spPr bwMode="auto"/>
        <p:txBody>
          <a:bodyPr/>
          <a:lstStyle/>
          <a:p>
            <a:pPr>
              <a:defRPr/>
            </a:pPr>
            <a:fld id="{34FAA6E4-8EA7-D2B9-95F9-02D53EC2A590}"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model estimates that Cyclistic earns $2.37 per casual trip. Across the dataset, that totals $7.28 million. If those same riders were members, Cyclistic would earn only $1.36 million because most casual trips are under 45 minutes and would be free. The revenue loss would be $5.9 million. This shows that converting casual riders to members under the current plan is financially damaging.</a:t>
            </a:r>
            <a:endParaRPr/>
          </a:p>
        </p:txBody>
      </p:sp>
      <p:sp>
        <p:nvSpPr>
          <p:cNvPr id="4" name="Slide Number Placeholder 3"/>
          <p:cNvSpPr>
            <a:spLocks noGrp="1"/>
          </p:cNvSpPr>
          <p:nvPr>
            <p:ph type="sldNum" sz="quarter" idx="10"/>
          </p:nvPr>
        </p:nvSpPr>
        <p:spPr bwMode="auto"/>
        <p:txBody>
          <a:bodyPr/>
          <a:lstStyle/>
          <a:p>
            <a:pPr>
              <a:defRPr/>
            </a:pPr>
            <a:fld id="{3EF15170-DD16-10BC-A282-D76163153181}"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bar chart makes the revenue gap clear. Cyclistic relies heavily on casual riders for revenue. The member plan is underpriced relative to casual behaviour. This reinforces the conclusion that the pricing challenge lies in the member plan, not the casual rate.</a:t>
            </a:r>
            <a:endParaRPr/>
          </a:p>
        </p:txBody>
      </p:sp>
      <p:sp>
        <p:nvSpPr>
          <p:cNvPr id="4" name="Slide Number Placeholder 3"/>
          <p:cNvSpPr>
            <a:spLocks noGrp="1"/>
          </p:cNvSpPr>
          <p:nvPr>
            <p:ph type="sldNum" sz="quarter" idx="10"/>
          </p:nvPr>
        </p:nvSpPr>
        <p:spPr bwMode="auto"/>
        <p:txBody>
          <a:bodyPr/>
          <a:lstStyle/>
          <a:p>
            <a:pPr>
              <a:defRPr/>
            </a:pPr>
            <a:fld id="{FD9E9119-1D7D-F369-68E0-AEDFBD164ED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This is the most important limitation. Cyclistic’s dataset contains no variation in price. Because of that, we cannot estimate elasticity — how riders change their behaviour when prices change. The pricing corridor shows only mechanical revenue under fixed behaviour. Real riders do not behave this way. This limits what we can conclude about optimal pricing.</a:t>
            </a:r>
            <a:endParaRPr/>
          </a:p>
        </p:txBody>
      </p:sp>
      <p:sp>
        <p:nvSpPr>
          <p:cNvPr id="4" name="Slide Number Placeholder 3"/>
          <p:cNvSpPr>
            <a:spLocks noGrp="1"/>
          </p:cNvSpPr>
          <p:nvPr>
            <p:ph type="sldNum" sz="quarter" idx="10"/>
          </p:nvPr>
        </p:nvSpPr>
        <p:spPr bwMode="auto"/>
        <p:txBody>
          <a:bodyPr/>
          <a:lstStyle/>
          <a:p>
            <a:pPr>
              <a:defRPr/>
            </a:pPr>
            <a:fld id="{DF9FF4F4-8D78-55C2-8AC3-BCF748B00A6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To understand how riders respond to price changes, Cyclistic needs data that varies in price. This could come from historical changes, comparisons with other markets, or controlled experiments. With such data, we can build a Bayesian elasticity model that estimates how trip frequency, duration, and membership conversion respond to price. This would allow Cyclistic to simulate behavioural responses to new pricing.</a:t>
            </a:r>
            <a:endParaRPr/>
          </a:p>
        </p:txBody>
      </p:sp>
      <p:sp>
        <p:nvSpPr>
          <p:cNvPr id="4" name="Slide Number Placeholder 3"/>
          <p:cNvSpPr>
            <a:spLocks noGrp="1"/>
          </p:cNvSpPr>
          <p:nvPr>
            <p:ph type="sldNum" sz="quarter" idx="10"/>
          </p:nvPr>
        </p:nvSpPr>
        <p:spPr bwMode="auto"/>
        <p:txBody>
          <a:bodyPr/>
          <a:lstStyle/>
          <a:p>
            <a:pPr>
              <a:defRPr/>
            </a:pPr>
            <a:fld id="{5C7A6895-C12F-7F01-A6B0-51E417DC8463}"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most actionable recommendation is to run a controlled price experiment. Cyclistic could vary prices at selected stations or during specific time windows. Even a small experiment would generate the variation needed to estimate elasticity. This would give Cyclistic the behavioural evidence needed to design a pricing strategy that balances revenue, ridership, and membership growth.</a:t>
            </a:r>
            <a:endParaRPr/>
          </a:p>
        </p:txBody>
      </p:sp>
      <p:sp>
        <p:nvSpPr>
          <p:cNvPr id="4" name="Slide Number Placeholder 3"/>
          <p:cNvSpPr>
            <a:spLocks noGrp="1"/>
          </p:cNvSpPr>
          <p:nvPr>
            <p:ph type="sldNum" sz="quarter" idx="10"/>
          </p:nvPr>
        </p:nvSpPr>
        <p:spPr bwMode="auto"/>
        <p:txBody>
          <a:bodyPr/>
          <a:lstStyle/>
          <a:p>
            <a:pPr>
              <a:defRPr/>
            </a:pPr>
            <a:fld id="{0559A5D7-46C5-00F5-539D-B6647BD529E8}"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Arial"/>
                <a:ea typeface="Arial"/>
                <a:cs typeface="Arial"/>
              </a:rPr>
              <a:t>The Bayesian models clarify Cyclistic’s pricing structure. Members receive far more value than they pay for. Casual riders generate most of the company’s revenue. Converting casual riders to members under the current plan would sharply reduce revenue. The missing piece is behavioural data. A controlled price experiment is the most direct way to gather that data and design a pricing strategy that reflects both financial goals and real‑world behaviour.</a:t>
            </a:r>
            <a:endParaRPr/>
          </a:p>
        </p:txBody>
      </p:sp>
      <p:sp>
        <p:nvSpPr>
          <p:cNvPr id="4" name="Slide Number Placeholder 3"/>
          <p:cNvSpPr>
            <a:spLocks noGrp="1"/>
          </p:cNvSpPr>
          <p:nvPr>
            <p:ph type="sldNum" sz="quarter" idx="10"/>
          </p:nvPr>
        </p:nvSpPr>
        <p:spPr bwMode="auto"/>
        <p:txBody>
          <a:bodyPr/>
          <a:lstStyle/>
          <a:p>
            <a:pPr>
              <a:defRPr/>
            </a:pPr>
            <a:fld id="{25B8F042-9975-EA7C-A9F9-91E8DACC2076}"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247284257"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864733530"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165511238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90981882" name="Footer Placeholder 4"/>
          <p:cNvSpPr>
            <a:spLocks noGrp="1"/>
          </p:cNvSpPr>
          <p:nvPr>
            <p:ph type="ftr" sz="quarter" idx="11"/>
          </p:nvPr>
        </p:nvSpPr>
        <p:spPr bwMode="auto"/>
        <p:txBody>
          <a:bodyPr/>
          <a:lstStyle/>
          <a:p>
            <a:pPr>
              <a:defRPr/>
            </a:pPr>
            <a:endParaRPr lang="en-US"/>
          </a:p>
        </p:txBody>
      </p:sp>
      <p:sp>
        <p:nvSpPr>
          <p:cNvPr id="213041240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347361280" name="Title 1"/>
          <p:cNvSpPr>
            <a:spLocks noGrp="1"/>
          </p:cNvSpPr>
          <p:nvPr>
            <p:ph type="title"/>
          </p:nvPr>
        </p:nvSpPr>
        <p:spPr bwMode="auto"/>
        <p:txBody>
          <a:bodyPr/>
          <a:lstStyle/>
          <a:p>
            <a:pPr>
              <a:defRPr/>
            </a:pPr>
            <a:r>
              <a:rPr lang="en-US"/>
              <a:t>Click to edit Master title style</a:t>
            </a:r>
            <a:endParaRPr lang="en-US"/>
          </a:p>
        </p:txBody>
      </p:sp>
      <p:sp>
        <p:nvSpPr>
          <p:cNvPr id="133106861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7667825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30398533" name="Footer Placeholder 4"/>
          <p:cNvSpPr>
            <a:spLocks noGrp="1"/>
          </p:cNvSpPr>
          <p:nvPr>
            <p:ph type="ftr" sz="quarter" idx="11"/>
          </p:nvPr>
        </p:nvSpPr>
        <p:spPr bwMode="auto"/>
        <p:txBody>
          <a:bodyPr/>
          <a:lstStyle/>
          <a:p>
            <a:pPr>
              <a:defRPr/>
            </a:pPr>
            <a:endParaRPr lang="en-US"/>
          </a:p>
        </p:txBody>
      </p:sp>
      <p:sp>
        <p:nvSpPr>
          <p:cNvPr id="1183606433"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0579752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99760984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812890232"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00927829" name="Footer Placeholder 4"/>
          <p:cNvSpPr>
            <a:spLocks noGrp="1"/>
          </p:cNvSpPr>
          <p:nvPr>
            <p:ph type="ftr" sz="quarter" idx="11"/>
          </p:nvPr>
        </p:nvSpPr>
        <p:spPr bwMode="auto"/>
        <p:txBody>
          <a:bodyPr/>
          <a:lstStyle/>
          <a:p>
            <a:pPr>
              <a:defRPr/>
            </a:pPr>
            <a:endParaRPr lang="en-US"/>
          </a:p>
        </p:txBody>
      </p:sp>
      <p:sp>
        <p:nvSpPr>
          <p:cNvPr id="96710596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080396880" name="Title 1"/>
          <p:cNvSpPr>
            <a:spLocks noGrp="1"/>
          </p:cNvSpPr>
          <p:nvPr>
            <p:ph type="title"/>
          </p:nvPr>
        </p:nvSpPr>
        <p:spPr bwMode="auto"/>
        <p:txBody>
          <a:bodyPr/>
          <a:lstStyle/>
          <a:p>
            <a:pPr>
              <a:defRPr/>
            </a:pPr>
            <a:r>
              <a:rPr lang="en-US"/>
              <a:t>Click to edit Master title style</a:t>
            </a:r>
            <a:endParaRPr lang="en-US"/>
          </a:p>
        </p:txBody>
      </p:sp>
      <p:sp>
        <p:nvSpPr>
          <p:cNvPr id="110630137"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21912241"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30133492"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08766479" name="Footer Placeholder 5"/>
          <p:cNvSpPr>
            <a:spLocks noGrp="1"/>
          </p:cNvSpPr>
          <p:nvPr>
            <p:ph type="ftr" sz="quarter" idx="11"/>
          </p:nvPr>
        </p:nvSpPr>
        <p:spPr bwMode="auto"/>
        <p:txBody>
          <a:bodyPr/>
          <a:lstStyle/>
          <a:p>
            <a:pPr>
              <a:defRPr/>
            </a:pPr>
            <a:endParaRPr lang="en-US"/>
          </a:p>
        </p:txBody>
      </p:sp>
      <p:sp>
        <p:nvSpPr>
          <p:cNvPr id="2146430575"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84795644"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958163121"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50175815"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8334392"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68301712"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438718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87220038" name="Footer Placeholder 7"/>
          <p:cNvSpPr>
            <a:spLocks noGrp="1"/>
          </p:cNvSpPr>
          <p:nvPr>
            <p:ph type="ftr" sz="quarter" idx="11"/>
          </p:nvPr>
        </p:nvSpPr>
        <p:spPr bwMode="auto"/>
        <p:txBody>
          <a:bodyPr/>
          <a:lstStyle/>
          <a:p>
            <a:pPr>
              <a:defRPr/>
            </a:pPr>
            <a:endParaRPr lang="en-US"/>
          </a:p>
        </p:txBody>
      </p:sp>
      <p:sp>
        <p:nvSpPr>
          <p:cNvPr id="1734864938"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783966813" name="Title 1"/>
          <p:cNvSpPr>
            <a:spLocks noGrp="1"/>
          </p:cNvSpPr>
          <p:nvPr>
            <p:ph type="title"/>
          </p:nvPr>
        </p:nvSpPr>
        <p:spPr bwMode="auto"/>
        <p:txBody>
          <a:bodyPr/>
          <a:lstStyle/>
          <a:p>
            <a:pPr>
              <a:defRPr/>
            </a:pPr>
            <a:r>
              <a:rPr lang="en-US"/>
              <a:t>Click to edit Master title style</a:t>
            </a:r>
            <a:endParaRPr lang="en-US"/>
          </a:p>
        </p:txBody>
      </p:sp>
      <p:sp>
        <p:nvSpPr>
          <p:cNvPr id="346681244"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35375668" name="Footer Placeholder 3"/>
          <p:cNvSpPr>
            <a:spLocks noGrp="1"/>
          </p:cNvSpPr>
          <p:nvPr>
            <p:ph type="ftr" sz="quarter" idx="11"/>
          </p:nvPr>
        </p:nvSpPr>
        <p:spPr bwMode="auto"/>
        <p:txBody>
          <a:bodyPr/>
          <a:lstStyle/>
          <a:p>
            <a:pPr>
              <a:defRPr/>
            </a:pPr>
            <a:endParaRPr lang="en-US"/>
          </a:p>
        </p:txBody>
      </p:sp>
      <p:sp>
        <p:nvSpPr>
          <p:cNvPr id="1969143571"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79569711"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11424138" name="Footer Placeholder 2"/>
          <p:cNvSpPr>
            <a:spLocks noGrp="1"/>
          </p:cNvSpPr>
          <p:nvPr>
            <p:ph type="ftr" sz="quarter" idx="11"/>
          </p:nvPr>
        </p:nvSpPr>
        <p:spPr bwMode="auto"/>
        <p:txBody>
          <a:bodyPr/>
          <a:lstStyle/>
          <a:p>
            <a:pPr>
              <a:defRPr/>
            </a:pPr>
            <a:endParaRPr lang="en-US"/>
          </a:p>
        </p:txBody>
      </p:sp>
      <p:sp>
        <p:nvSpPr>
          <p:cNvPr id="908341893"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5649422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244626584"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4301365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1188213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77024796" name="Footer Placeholder 5"/>
          <p:cNvSpPr>
            <a:spLocks noGrp="1"/>
          </p:cNvSpPr>
          <p:nvPr>
            <p:ph type="ftr" sz="quarter" idx="11"/>
          </p:nvPr>
        </p:nvSpPr>
        <p:spPr bwMode="auto"/>
        <p:txBody>
          <a:bodyPr/>
          <a:lstStyle/>
          <a:p>
            <a:pPr>
              <a:defRPr/>
            </a:pPr>
            <a:endParaRPr lang="en-US"/>
          </a:p>
        </p:txBody>
      </p:sp>
      <p:sp>
        <p:nvSpPr>
          <p:cNvPr id="85884620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98026320"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6000246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954256659"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836756818"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78517515" name="Footer Placeholder 5"/>
          <p:cNvSpPr>
            <a:spLocks noGrp="1"/>
          </p:cNvSpPr>
          <p:nvPr>
            <p:ph type="ftr" sz="quarter" idx="11"/>
          </p:nvPr>
        </p:nvSpPr>
        <p:spPr bwMode="auto"/>
        <p:txBody>
          <a:bodyPr/>
          <a:lstStyle/>
          <a:p>
            <a:pPr>
              <a:defRPr/>
            </a:pPr>
            <a:endParaRPr lang="en-US"/>
          </a:p>
        </p:txBody>
      </p:sp>
      <p:sp>
        <p:nvSpPr>
          <p:cNvPr id="17887224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876547541" name="Title 1"/>
          <p:cNvSpPr>
            <a:spLocks noGrp="1"/>
          </p:cNvSpPr>
          <p:nvPr>
            <p:ph type="title"/>
          </p:nvPr>
        </p:nvSpPr>
        <p:spPr bwMode="auto"/>
        <p:txBody>
          <a:bodyPr/>
          <a:lstStyle/>
          <a:p>
            <a:pPr>
              <a:defRPr/>
            </a:pPr>
            <a:r>
              <a:rPr lang="en-US"/>
              <a:t>Click to edit Master title style</a:t>
            </a:r>
            <a:endParaRPr lang="en-US"/>
          </a:p>
        </p:txBody>
      </p:sp>
      <p:sp>
        <p:nvSpPr>
          <p:cNvPr id="205396875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2188653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36569012" name="Footer Placeholder 4"/>
          <p:cNvSpPr>
            <a:spLocks noGrp="1"/>
          </p:cNvSpPr>
          <p:nvPr>
            <p:ph type="ftr" sz="quarter" idx="11"/>
          </p:nvPr>
        </p:nvSpPr>
        <p:spPr bwMode="auto"/>
        <p:txBody>
          <a:bodyPr/>
          <a:lstStyle/>
          <a:p>
            <a:pPr>
              <a:defRPr/>
            </a:pPr>
            <a:endParaRPr lang="en-US"/>
          </a:p>
        </p:txBody>
      </p:sp>
      <p:sp>
        <p:nvSpPr>
          <p:cNvPr id="14242233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85126517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00712127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485141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40777025" name="Footer Placeholder 4"/>
          <p:cNvSpPr>
            <a:spLocks noGrp="1"/>
          </p:cNvSpPr>
          <p:nvPr>
            <p:ph type="ftr" sz="quarter" idx="11"/>
          </p:nvPr>
        </p:nvSpPr>
        <p:spPr bwMode="auto"/>
        <p:txBody>
          <a:bodyPr/>
          <a:lstStyle/>
          <a:p>
            <a:pPr>
              <a:defRPr/>
            </a:pPr>
            <a:endParaRPr lang="en-US"/>
          </a:p>
        </p:txBody>
      </p:sp>
      <p:sp>
        <p:nvSpPr>
          <p:cNvPr id="56237900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331074691"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85864137"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43406339"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431367124"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907900443"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6179927" name="Title 1"/>
          <p:cNvSpPr>
            <a:spLocks noGrp="1"/>
          </p:cNvSpPr>
          <p:nvPr>
            <p:ph type="ctrTitle"/>
          </p:nvPr>
        </p:nvSpPr>
        <p:spPr bwMode="auto"/>
        <p:txBody>
          <a:bodyPr/>
          <a:lstStyle/>
          <a:p>
            <a:pPr>
              <a:defRPr/>
            </a:pPr>
            <a:r>
              <a:rPr lang="en-US" sz="6000" b="0" i="0" u="none" strike="noStrike" cap="none" spc="0">
                <a:solidFill>
                  <a:schemeClr val="tx1"/>
                </a:solidFill>
                <a:latin typeface="Arial"/>
                <a:ea typeface="Arial"/>
                <a:cs typeface="Arial"/>
              </a:rPr>
              <a:t>Cyclistic Pricing Analysis: Bayesian</a:t>
            </a:r>
            <a:r>
              <a:rPr lang="en-GB"/>
              <a:t> Analysis</a:t>
            </a:r>
            <a:endParaRPr lang="en-US"/>
          </a:p>
        </p:txBody>
      </p:sp>
      <p:sp>
        <p:nvSpPr>
          <p:cNvPr id="275200290" name="Subtitle 2"/>
          <p:cNvSpPr>
            <a:spLocks noGrp="1"/>
          </p:cNvSpPr>
          <p:nvPr>
            <p:ph type="subTitle" idx="1"/>
          </p:nvPr>
        </p:nvSpPr>
        <p:spPr bwMode="auto"/>
        <p:txBody>
          <a:bodyPr/>
          <a:lstStyle/>
          <a:p>
            <a:pPr>
              <a:defRPr/>
            </a:pPr>
            <a:r>
              <a:rPr lang="en-US" sz="2400" b="0" i="0" u="none" strike="noStrike" cap="none" spc="0">
                <a:solidFill>
                  <a:schemeClr val="tx1"/>
                </a:solidFill>
                <a:latin typeface="Arial"/>
                <a:ea typeface="Arial"/>
                <a:cs typeface="Arial"/>
              </a:rPr>
              <a:t>Understanding Rider Behaviour, Revenue Risk, and the Case for a Price Experiment</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142495"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Why This A</a:t>
            </a:r>
            <a:r>
              <a:rPr lang="en-GB" sz="4400" b="0" i="0" u="none" strike="noStrike" cap="none" spc="0">
                <a:solidFill>
                  <a:schemeClr val="tx1"/>
                </a:solidFill>
                <a:latin typeface="Arial"/>
                <a:ea typeface="Arial"/>
                <a:cs typeface="Arial"/>
              </a:rPr>
              <a:t>nalysis</a:t>
            </a:r>
            <a:r>
              <a:rPr lang="en-US" sz="4400" b="0" i="0" u="none" strike="noStrike" cap="none" spc="0">
                <a:solidFill>
                  <a:schemeClr val="tx1"/>
                </a:solidFill>
                <a:latin typeface="Arial"/>
                <a:ea typeface="Arial"/>
                <a:cs typeface="Arial"/>
              </a:rPr>
              <a:t> Exists</a:t>
            </a:r>
            <a:endParaRPr/>
          </a:p>
        </p:txBody>
      </p:sp>
      <p:sp>
        <p:nvSpPr>
          <p:cNvPr id="70861769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n-GB" sz="2800" b="0" i="0" u="none" strike="noStrike" cap="none" spc="0">
                <a:solidFill>
                  <a:schemeClr val="tx1"/>
                </a:solidFill>
                <a:latin typeface="Arial"/>
                <a:ea typeface="Arial"/>
                <a:cs typeface="Arial"/>
              </a:rPr>
              <a:t>This Analysis</a:t>
            </a:r>
            <a:r>
              <a:rPr lang="en-GB" sz="2800" b="0" i="0" u="none" strike="noStrike" cap="none" spc="0">
                <a:solidFill>
                  <a:schemeClr val="tx1"/>
                </a:solidFill>
                <a:latin typeface="Arial"/>
                <a:ea typeface="Arial"/>
                <a:cs typeface="Arial"/>
              </a:rPr>
              <a:t>:</a:t>
            </a:r>
            <a:endParaRPr lang="en-GB" sz="2800" b="0" i="0" u="none" strike="noStrike" cap="none" spc="0">
              <a:solidFill>
                <a:schemeClr val="tx1"/>
              </a:solidFill>
              <a:latin typeface="Arial"/>
              <a:ea typeface="Arial"/>
              <a:cs typeface="Arial"/>
            </a:endParaRPr>
          </a:p>
          <a:p>
            <a:pPr marL="0" indent="0">
              <a:buFont typeface="Arial"/>
              <a:buNone/>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Clarifies uncertainty in rider behaviour</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Quantifies revenue risk from membership conversion</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Tests pricing assumptions under a Bayesian framework</a:t>
            </a: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Highlights the limits of the current dataset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2402541"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Why Bayesian?</a:t>
            </a:r>
            <a:endParaRPr/>
          </a:p>
        </p:txBody>
      </p:sp>
      <p:sp>
        <p:nvSpPr>
          <p:cNvPr id="145552648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Why Bayesian</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Handles skewed, variable data</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Produces full probability distributions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Answers “How certain are we?”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Supports decision‑ready insights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329811"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Data Preparation</a:t>
            </a:r>
            <a:endParaRPr/>
          </a:p>
        </p:txBody>
      </p:sp>
      <p:sp>
        <p:nvSpPr>
          <p:cNvPr id="39263120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Data Preparation</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Cleaned dataset from main workflow</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Recreated engineered features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Built subsets for duration and revenue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Prepared features for future logistic modelling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0363290"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Model 1: Trip Duration Differences</a:t>
            </a:r>
            <a:endParaRPr/>
          </a:p>
        </p:txBody>
      </p:sp>
      <p:sp>
        <p:nvSpPr>
          <p:cNvPr id="1715862354" name="Content Placeholder 2"/>
          <p:cNvSpPr>
            <a:spLocks noGrp="1"/>
          </p:cNvSpPr>
          <p:nvPr>
            <p:ph idx="1"/>
          </p:nvPr>
        </p:nvSpPr>
        <p:spPr bwMode="auto"/>
        <p:txBody>
          <a:bodyPr/>
          <a:lstStyle/>
          <a:p>
            <a:pPr marL="0" indent="0">
              <a:buFont typeface="Arial"/>
              <a:buNone/>
              <a:defRPr/>
            </a:pPr>
            <a:r>
              <a:rPr lang="en-GB" sz="2800" b="0" i="0" u="none" strike="noStrike" cap="none" spc="0">
                <a:solidFill>
                  <a:schemeClr val="tx1"/>
                </a:solidFill>
                <a:latin typeface="Arial"/>
                <a:ea typeface="Arial"/>
                <a:cs typeface="Arial"/>
              </a:rPr>
              <a:t>Trip Duration Differences</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Log‑normal model for trip durations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Separate means for members and casual riders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Key parameter: difference in log‑means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6402086"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Duration Results</a:t>
            </a:r>
            <a:endParaRPr/>
          </a:p>
        </p:txBody>
      </p:sp>
      <p:sp>
        <p:nvSpPr>
          <p:cNvPr id="206961554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Duration Results</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100% posterior probability casual riders ride longer</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Casual trips are 1.42× longer</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Typical member trip: 8.7 minutes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Typical casual trip: 12.4 minutes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0274399"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Posterior Predictive Check</a:t>
            </a:r>
            <a:endParaRPr/>
          </a:p>
        </p:txBody>
      </p:sp>
      <p:sp>
        <p:nvSpPr>
          <p:cNvPr id="1361641327" name="Content Placeholder 2"/>
          <p:cNvSpPr>
            <a:spLocks noGrp="1"/>
          </p:cNvSpPr>
          <p:nvPr>
            <p:ph idx="1"/>
          </p:nvPr>
        </p:nvSpPr>
        <p:spPr bwMode="auto"/>
        <p:txBody>
          <a:bodyPr/>
          <a:lstStyle/>
          <a:p>
            <a:pPr marL="0" indent="0">
              <a:buFont typeface="Arial"/>
              <a:buNone/>
              <a:defRPr/>
            </a:pPr>
            <a:r>
              <a:rPr lang="en-GB" sz="2800" b="0" i="0" u="none" strike="noStrike" cap="none" spc="0">
                <a:solidFill>
                  <a:schemeClr val="tx1"/>
                </a:solidFill>
                <a:latin typeface="Arial"/>
                <a:ea typeface="Arial"/>
                <a:cs typeface="Arial"/>
              </a:rPr>
              <a:t>Posterior Predictive Check</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Model predictions match observed data</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Confirms the log‑normal model fits well</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Supports confidence in duration estimates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3952537"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Model 2: Revenue Modelling</a:t>
            </a:r>
            <a:endParaRPr/>
          </a:p>
        </p:txBody>
      </p:sp>
      <p:sp>
        <p:nvSpPr>
          <p:cNvPr id="1935849990" name="Content Placeholder 2"/>
          <p:cNvSpPr>
            <a:spLocks noGrp="1"/>
          </p:cNvSpPr>
          <p:nvPr>
            <p:ph idx="1"/>
          </p:nvPr>
        </p:nvSpPr>
        <p:spPr bwMode="auto"/>
        <p:txBody>
          <a:bodyPr/>
          <a:lstStyle/>
          <a:p>
            <a:pPr marL="0" indent="0">
              <a:buFont typeface="Arial"/>
              <a:buNone/>
              <a:defRPr/>
            </a:pPr>
            <a:r>
              <a:rPr lang="en-GB" sz="2800" b="0" i="0" u="none" strike="noStrike" cap="none" spc="0">
                <a:solidFill>
                  <a:schemeClr val="tx1"/>
                </a:solidFill>
                <a:latin typeface="Arial"/>
                <a:ea typeface="Arial"/>
                <a:cs typeface="Arial"/>
              </a:rPr>
              <a:t>Revenue Modelling</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Log‑normal model for trip revenue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Estimates average revenue per casual trip</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Forms basis for conversion analysis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8516708"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Revenue Results</a:t>
            </a:r>
            <a:endParaRPr/>
          </a:p>
        </p:txBody>
      </p:sp>
      <p:sp>
        <p:nvSpPr>
          <p:cNvPr id="198465424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Revenue Results</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Average casual trip revenue: $2.37</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Total casual revenue: $7.28M</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Under member plan: $1.36M</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Revenue loss: $5.9M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2559118"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Revenue Comparison Chart</a:t>
            </a:r>
            <a:endParaRPr/>
          </a:p>
        </p:txBody>
      </p:sp>
      <p:sp>
        <p:nvSpPr>
          <p:cNvPr id="1317195709" name="Content Placeholder 2"/>
          <p:cNvSpPr>
            <a:spLocks noGrp="1"/>
          </p:cNvSpPr>
          <p:nvPr>
            <p:ph idx="1"/>
          </p:nvPr>
        </p:nvSpPr>
        <p:spPr bwMode="auto"/>
        <p:txBody>
          <a:bodyPr/>
          <a:lstStyle/>
          <a:p>
            <a:pPr marL="0" indent="0">
              <a:buFont typeface="Arial"/>
              <a:buNone/>
              <a:defRPr/>
            </a:pPr>
            <a:r>
              <a:rPr lang="en-GB" sz="2800" b="0" i="0" u="none" strike="noStrike" cap="none" spc="0">
                <a:solidFill>
                  <a:schemeClr val="tx1"/>
                </a:solidFill>
                <a:latin typeface="Arial"/>
                <a:ea typeface="Arial"/>
                <a:cs typeface="Arial"/>
              </a:rPr>
              <a:t>Revenue Comparison Chart</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Visual gap between actual and</a:t>
            </a:r>
            <a:br>
              <a:rPr lang="en-US" sz="2800" b="0" i="0" u="none" strike="noStrike" cap="none" spc="0">
                <a:solidFill>
                  <a:schemeClr val="tx1"/>
                </a:solidFill>
                <a:latin typeface="Arial"/>
                <a:ea typeface="Arial"/>
                <a:cs typeface="Arial"/>
              </a:rPr>
            </a:br>
            <a:r>
              <a:rPr lang="en-US" sz="2800" b="0" i="0" u="none" strike="noStrike" cap="none" spc="0">
                <a:solidFill>
                  <a:schemeClr val="tx1"/>
                </a:solidFill>
                <a:latin typeface="Arial"/>
                <a:ea typeface="Arial"/>
                <a:cs typeface="Arial"/>
              </a:rPr>
              <a:t> hypothetical revenue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Highlights dependence on casual </a:t>
            </a:r>
            <a:br>
              <a:rPr lang="en-US" sz="2800" b="0" i="0" u="none" strike="noStrike" cap="none" spc="0">
                <a:solidFill>
                  <a:schemeClr val="tx1"/>
                </a:solidFill>
                <a:latin typeface="Arial"/>
                <a:ea typeface="Arial"/>
                <a:cs typeface="Arial"/>
              </a:rPr>
            </a:br>
            <a:r>
              <a:rPr lang="en-US" sz="2800" b="0" i="0" u="none" strike="noStrike" cap="none" spc="0">
                <a:solidFill>
                  <a:schemeClr val="tx1"/>
                </a:solidFill>
                <a:latin typeface="Arial"/>
                <a:ea typeface="Arial"/>
                <a:cs typeface="Arial"/>
              </a:rPr>
              <a:t>riders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marL="0" indent="0">
              <a:buFont typeface="Arial"/>
              <a:buNone/>
              <a:defRPr/>
            </a:pPr>
            <a:r>
              <a:rPr lang="en-US" sz="2800" b="0" i="0" u="none" strike="noStrike" cap="none" spc="0">
                <a:solidFill>
                  <a:schemeClr val="tx1"/>
                </a:solidFill>
                <a:latin typeface="Arial"/>
                <a:ea typeface="Arial"/>
                <a:cs typeface="Arial"/>
              </a:rPr>
              <a:t>Shows member plan is underpriced</a:t>
            </a:r>
            <a:endParaRPr/>
          </a:p>
        </p:txBody>
      </p:sp>
      <p:pic>
        <p:nvPicPr>
          <p:cNvPr id="1090958870" name=""/>
          <p:cNvPicPr>
            <a:picLocks noChangeAspect="1"/>
          </p:cNvPicPr>
          <p:nvPr/>
        </p:nvPicPr>
        <p:blipFill rotWithShape="1">
          <a:blip r:embed="rId3"/>
          <a:stretch/>
        </p:blipFill>
        <p:spPr bwMode="auto">
          <a:xfrm flipH="0" flipV="0">
            <a:off x="6561587" y="1891214"/>
            <a:ext cx="4938596" cy="32430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4634096"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Key Limitation</a:t>
            </a:r>
            <a:endParaRPr/>
          </a:p>
        </p:txBody>
      </p:sp>
      <p:sp>
        <p:nvSpPr>
          <p:cNvPr id="204542719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Key Limitation</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No variation in price in the dataset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Cannot estimate price elasticity</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Pricing corridor assumes fixed behaviour</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Real riders respond to price changes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4945230"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Future Work: Elasticity Modelling</a:t>
            </a:r>
            <a:endParaRPr/>
          </a:p>
        </p:txBody>
      </p:sp>
      <p:sp>
        <p:nvSpPr>
          <p:cNvPr id="2016058713" name="Content Placeholder 2"/>
          <p:cNvSpPr>
            <a:spLocks noGrp="1"/>
          </p:cNvSpPr>
          <p:nvPr>
            <p:ph idx="1"/>
          </p:nvPr>
        </p:nvSpPr>
        <p:spPr bwMode="auto"/>
        <p:txBody>
          <a:bodyPr/>
          <a:lstStyle/>
          <a:p>
            <a:pPr marL="0" indent="0">
              <a:buFont typeface="Arial"/>
              <a:buNone/>
              <a:defRPr/>
            </a:pPr>
            <a:r>
              <a:rPr lang="en-GB" sz="2800" b="0" i="0" u="none" strike="noStrike" cap="none" spc="0">
                <a:solidFill>
                  <a:schemeClr val="tx1"/>
                </a:solidFill>
                <a:latin typeface="Arial"/>
                <a:ea typeface="Arial"/>
                <a:cs typeface="Arial"/>
              </a:rPr>
              <a:t>Price Elasticity</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Need data with price variation</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Historical changes, cross‑market data, or experiments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Bayesian elasticity model is the natural next step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8448009"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Strategic Recommendation</a:t>
            </a:r>
            <a:endParaRPr/>
          </a:p>
        </p:txBody>
      </p:sp>
      <p:sp>
        <p:nvSpPr>
          <p:cNvPr id="76242169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Font typeface="Arial"/>
              <a:buNone/>
              <a:defRPr/>
            </a:pPr>
            <a:r>
              <a:rPr lang="en-GB" sz="2800" b="0" i="0" u="none" strike="noStrike" cap="none" spc="0">
                <a:solidFill>
                  <a:schemeClr val="tx1"/>
                </a:solidFill>
                <a:latin typeface="Arial"/>
                <a:ea typeface="Arial"/>
                <a:cs typeface="Arial"/>
              </a:rPr>
              <a:t>Strategic Recommendation</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Run a controlled price experiment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Test different per‑minute rates</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Measure behavioural response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Use results to design optimal pricing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690984" name="Title 1"/>
          <p:cNvSpPr>
            <a:spLocks noGrp="1"/>
          </p:cNvSpPr>
          <p:nvPr>
            <p:ph type="title"/>
          </p:nvPr>
        </p:nvSpPr>
        <p:spPr bwMode="auto"/>
        <p:txBody>
          <a:bodyPr/>
          <a:lstStyle/>
          <a:p>
            <a:pPr>
              <a:defRPr/>
            </a:pPr>
            <a:r>
              <a:rPr lang="en-US" sz="4400" b="0" i="0" u="none" strike="noStrike" cap="none" spc="0">
                <a:solidFill>
                  <a:schemeClr val="tx1"/>
                </a:solidFill>
                <a:latin typeface="Arial"/>
                <a:ea typeface="Arial"/>
                <a:cs typeface="Arial"/>
              </a:rPr>
              <a:t>Conclusion</a:t>
            </a:r>
            <a:endParaRPr/>
          </a:p>
        </p:txBody>
      </p:sp>
      <p:sp>
        <p:nvSpPr>
          <p:cNvPr id="45162747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75000" lnSpcReduction="5000"/>
          </a:bodyPr>
          <a:lstStyle/>
          <a:p>
            <a:pPr marL="0" indent="0">
              <a:buFont typeface="Arial"/>
              <a:buNone/>
              <a:defRPr/>
            </a:pPr>
            <a:r>
              <a:rPr lang="en-GB" sz="2800" b="0" i="0" u="none" strike="noStrike" cap="none" spc="0">
                <a:solidFill>
                  <a:schemeClr val="tx1"/>
                </a:solidFill>
                <a:latin typeface="Arial"/>
                <a:ea typeface="Arial"/>
                <a:cs typeface="Arial"/>
              </a:rPr>
              <a:t>Conclusion</a:t>
            </a:r>
            <a:r>
              <a:rPr lang="en-US" sz="2800" b="0" i="0" u="none" strike="noStrike" cap="none" spc="0">
                <a:solidFill>
                  <a:schemeClr val="tx1"/>
                </a:solidFill>
                <a:latin typeface="Arial"/>
                <a:ea typeface="Arial"/>
                <a:cs typeface="Arial"/>
              </a:rPr>
              <a:t>:</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Members are underpriced</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Casual riders generate most revenue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Converting casuals to members reduces revenue</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Behavioural uncertainty is the key gap</a:t>
            </a:r>
            <a:endParaRPr lang="en-US" sz="28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a:p>
            <a:pPr>
              <a:defRPr/>
            </a:pPr>
            <a:r>
              <a:rPr lang="en-US" sz="2800" b="0" i="0" u="none" strike="noStrike" cap="none" spc="0">
                <a:solidFill>
                  <a:schemeClr val="tx1"/>
                </a:solidFill>
                <a:latin typeface="Arial"/>
                <a:ea typeface="Arial"/>
                <a:cs typeface="Arial"/>
              </a:rPr>
              <a:t>A price experiment is the next step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Andy Moran MSc MPlan</dc:creator>
  <cp:lastModifiedBy/>
  <cp:revision>6</cp:revision>
  <dcterms:modified xsi:type="dcterms:W3CDTF">2026-01-13T15:26:44Z</dcterms:modified>
</cp:coreProperties>
</file>